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(15s): Assalam-o-Alaikum judges. We are Team NAQSHAI. In Pakistan, buying a plot is a family's biggest financial milestone—and its biggest gamble. NAQSHAI is an AI-powered land due-diligence platform that replaces biased middlemen with automated legal verification and 3D geospatial risk intelligence.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(40s): Imagine working your entire life to build a family home, only to watch a bulldozer raze it in a single day. That happened to Nargis Bibi and over 17,600 families in Bari Imam, while 12,000 families lost 25 billion rupees in the Eden Housing Scam. In the Twin Cities alone, 391 societies operate illegally. Today's buyers are trapped: human brokers take kickbacks to hide flaws, and listing portals just host unverified ads.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(35s): NAQSHAI replaces blind speculation with instant verification. Instead of paying a broker 2 to 4 lakh rupees in commission, buyers get a free, 30-second audit. Our platform renders exact 3D plot boundaries with 360-degree ground walkthroughs, checks CDA/RDA approval, and calculates flood, elevation, and noise risks automatically—all accessible in English, Urdu, or Roman Urdu.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(30s): Why couldn't this be built five years ago? First, Punjab Land Records, e-Stamp, and CDA portals only recently introduced barcode-verifiable digital records. Second, multimodal Vision LLMs like Gemini 2.5 can finally parse complex Pakistani allotment letters and Fards accurately. Combined with massive anti-encroachment crackdowns, buyer demand for instant verification is urgent today.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(30s): We built our market size from the bottom up. With 1.695 million annual FBR property transactions, our national verification fee pool at 2,500 rupees per listing is 4.24 billion rupees. Focusing strictly on Islamabad and Rawalpindi's 150,000 annual listings gives us a 375 million rupee SAM, and a realistic 3-year SOM of 45 million rupees across B2C listings and B2B API partners.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(30s): Zameen and Graana are ad portals—they show what is for sale, not whether it is safe to buy. Players like PropSure or Bitoreal cater to enterprise B2B clients or require scheduling human consultancy calls. NAQSHAI is the only self-serve platform combining automated government-portal document checks, 3D terrain risk math, and zero commissions.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(45s): How do we verify land when CDA and PLRA don't offer public APIs? First, the seller draws their plot polygon on satellite imagery, and our math engine checks if the drawn area matches their claimed Marla size. Second, Gemini Vision OCR audits their uploaded CNIC and computerized Fard, extracting the government tracking serial. Third, our operator clicks one button to verify that serial directly on the official PLRA or CDA portal past CAPTCHAs—because a scammer can Photoshop a PDF, but they cannot Photoshop the government's server.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(30s): Our MVP is live right now at naqshaii.vercel.app, backed by 157 automated regression tests with a 100% pass rate. To acquire our first 1,000 users, we keep buyer discovery 100% free, targeting overseas Pakistani communities who need remote 3D inspection. That buyer traffic pulls in private sellers, who gladly pay a flat 1,500 to 3,000 rupee fee to earn our Verified Badge and skip a 3-lakh rupee broker commission.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(30s): Because our environmental and Haversine engines run deterministically without expensive third-party GIS APIs, we operate at an 85% gross margin and under 15 rupees in compute per audit. Scaling from 1,200 verified listings in Year 1 to 10,000 listings plus 40 B2B partners in Year 3 takes us to 45 million rupees in annual revenue. We are seeking 5 million rupees in funding for an 18-month runway to unlock NADRA biometric integration, 1,000 verified listings, and predictive ML valuation.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(15s): We are Ahsan, Hassan, and Aliza—Team NAQSHAI. Thank you, and we are now open to your questions on our architecture, unit economics, and verification pipeline.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ounded Rectangle 1"/>
          <p:cNvSpPr/>
          <p:nvPr/>
        </p:nvSpPr>
        <p:spPr>
          <a:xfrm>
            <a:off x="731520" y="731520"/>
            <a:ext cx="10725912" cy="53949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868680"/>
            <a:ext cx="10360152" cy="5120640"/>
          </a:xfrm>
          <a:prstGeom prst="rect">
            <a:avLst/>
          </a:prstGeom>
          <a:noFill/>
        </p:spPr>
        <p:txBody>
          <a:bodyPr wrap="square">
            <a:spAutoFit/>
          </a:bodyPr>
          <a:lstStyle/>
          <a:p>
            <a:pPr>
              <a:spcAft>
                <a:spcPts val="800"/>
              </a:spcAft>
              <a:defRPr sz="1700" b="1">
                <a:solidFill>
                  <a:srgbClr val="047857"/>
                </a:solidFill>
              </a:defRPr>
            </a:pPr>
          </a:p>
        </p:txBody>
      </p:sp>
      <p:sp>
        <p:nvSpPr>
          <p:cNvPr id="4" name="TextBox 3"/>
          <p:cNvSpPr txBox="1"/>
          <p:nvPr/>
        </p:nvSpPr>
        <p:spPr>
          <a:xfrm>
            <a:off x="1188720" y="1371600"/>
            <a:ext cx="6217920" cy="4114800"/>
          </a:xfrm>
          <a:prstGeom prst="rect">
            <a:avLst/>
          </a:prstGeom>
          <a:noFill/>
        </p:spPr>
        <p:txBody>
          <a:bodyPr wrap="square">
            <a:spAutoFit/>
          </a:bodyPr>
          <a:lstStyle/>
          <a:p>
            <a:pPr>
              <a:defRPr sz="5200" b="1">
                <a:solidFill>
                  <a:srgbClr val="047857"/>
                </a:solidFill>
              </a:defRPr>
            </a:pPr>
            <a:r>
              <a:t>NAQSHAI</a:t>
            </a:r>
          </a:p>
          <a:p>
            <a:pPr>
              <a:spcAft>
                <a:spcPts val="1800"/>
              </a:spcAft>
              <a:defRPr sz="2000" b="1">
                <a:solidFill>
                  <a:srgbClr val="475569"/>
                </a:solidFill>
              </a:defRPr>
            </a:pPr>
            <a:r>
              <a:t>Zameen Ap Ki, Bharosa Hamara</a:t>
            </a:r>
          </a:p>
          <a:p>
            <a:pPr>
              <a:spcAft>
                <a:spcPts val="2400"/>
              </a:spcAft>
              <a:defRPr sz="1800">
                <a:solidFill>
                  <a:srgbClr val="0F172A"/>
                </a:solidFill>
              </a:defRPr>
            </a:pPr>
            <a:r>
              <a:t>An AI-powered land verification and 3D geospatial advisory platform that protects Pakistani property buyers from scams, hidden terrain hazards, and broker manipulation.</a:t>
            </a:r>
          </a:p>
          <a:p>
            <a:pPr>
              <a:defRPr sz="1400" b="1">
                <a:solidFill>
                  <a:srgbClr val="047857"/>
                </a:solidFill>
              </a:defRPr>
            </a:pPr>
            <a:r>
              <a:t>Live MVP: https://naqshaii.vercel.app/</a:t>
            </a:r>
            <a:br/>
            <a:r>
              <a:t>Team: Ahsan Hayat  |  Hassan Farooq  |  Aliza Fatima</a:t>
            </a:r>
          </a:p>
        </p:txBody>
      </p:sp>
      <p:sp>
        <p:nvSpPr>
          <p:cNvPr id="5" name="Rectangle 4"/>
          <p:cNvSpPr/>
          <p:nvPr/>
        </p:nvSpPr>
        <p:spPr>
          <a:xfrm>
            <a:off x="7772400" y="1280160"/>
            <a:ext cx="3200400" cy="4206240"/>
          </a:xfrm>
          <a:prstGeom prst="rect">
            <a:avLst/>
          </a:prstGeom>
          <a:solidFill>
            <a:srgbClr val="ECFDF5"/>
          </a:solidFill>
          <a:ln w="1905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47857"/>
                </a:solidFill>
              </a:defRPr>
            </a:pPr>
            <a:r>
              <a:t>[ PASTE IMAGE HERE ]</a:t>
            </a:r>
            <a:br/>
            <a:r>
              <a:t>Paste NAQSHAI Mascot Logo + Green Pakistan Outline</a:t>
            </a:r>
            <a:br/>
            <a:r>
              <a:t>(From Old Slide 1 &amp; Slide 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ounded Rectangle 1"/>
          <p:cNvSpPr/>
          <p:nvPr/>
        </p:nvSpPr>
        <p:spPr>
          <a:xfrm>
            <a:off x="548640" y="365760"/>
            <a:ext cx="2377440" cy="347472"/>
          </a:xfrm>
          <a:prstGeom prst="round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01 | THE PROBLEM</a:t>
            </a:r>
          </a:p>
        </p:txBody>
      </p:sp>
      <p:sp>
        <p:nvSpPr>
          <p:cNvPr id="3" name="TextBox 2"/>
          <p:cNvSpPr txBox="1"/>
          <p:nvPr/>
        </p:nvSpPr>
        <p:spPr>
          <a:xfrm>
            <a:off x="548640" y="749808"/>
            <a:ext cx="11064240" cy="822960"/>
          </a:xfrm>
          <a:prstGeom prst="rect">
            <a:avLst/>
          </a:prstGeom>
          <a:noFill/>
        </p:spPr>
        <p:txBody>
          <a:bodyPr wrap="square">
            <a:spAutoFit/>
          </a:bodyPr>
          <a:lstStyle/>
          <a:p>
            <a:pPr>
              <a:defRPr sz="2800" b="1">
                <a:solidFill>
                  <a:srgbClr val="0F172A"/>
                </a:solidFill>
              </a:defRPr>
            </a:pPr>
            <a:r>
              <a:t>Buying Land in Pakistan is Fundamentally Broken</a:t>
            </a:r>
          </a:p>
          <a:p>
            <a:pPr>
              <a:defRPr sz="1400">
                <a:solidFill>
                  <a:srgbClr val="475569"/>
                </a:solidFill>
              </a:defRPr>
            </a:pPr>
            <a:r>
              <a:t>PKR 200B+ lost annually to real estate fraud, unapproved schemes, and compromised brokers.</a:t>
            </a:r>
          </a:p>
        </p:txBody>
      </p:sp>
      <p:sp>
        <p:nvSpPr>
          <p:cNvPr id="4" name="Rounded Rectangle 3"/>
          <p:cNvSpPr/>
          <p:nvPr/>
        </p:nvSpPr>
        <p:spPr>
          <a:xfrm>
            <a:off x="548640" y="1691640"/>
            <a:ext cx="5303520" cy="2194560"/>
          </a:xfrm>
          <a:prstGeom prst="roundRect">
            <a:avLst/>
          </a:prstGeom>
          <a:solidFill>
            <a:srgbClr val="FFF1F2"/>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0"/>
            <a:ext cx="4937759" cy="1920240"/>
          </a:xfrm>
          <a:prstGeom prst="rect">
            <a:avLst/>
          </a:prstGeom>
          <a:noFill/>
        </p:spPr>
        <p:txBody>
          <a:bodyPr wrap="square">
            <a:spAutoFit/>
          </a:bodyPr>
          <a:lstStyle/>
          <a:p>
            <a:pPr>
              <a:spcAft>
                <a:spcPts val="800"/>
              </a:spcAft>
              <a:defRPr sz="1700" b="1">
                <a:solidFill>
                  <a:srgbClr val="BE123C"/>
                </a:solidFill>
              </a:defRPr>
            </a:pPr>
            <a:r>
              <a:t>Real-World Devastation</a:t>
            </a:r>
          </a:p>
          <a:p>
            <a:pPr>
              <a:spcAft>
                <a:spcPts val="600"/>
              </a:spcAft>
              <a:defRPr sz="1300">
                <a:solidFill>
                  <a:srgbClr val="0F172A"/>
                </a:solidFill>
              </a:defRPr>
            </a:pPr>
            <a:r>
              <a:t>•  Bari Imam Demolition: 17,640+ families affected; Nargis Bibi's home &amp; shop razed in a single day.</a:t>
            </a:r>
          </a:p>
          <a:p>
            <a:pPr>
              <a:spcAft>
                <a:spcPts val="600"/>
              </a:spcAft>
              <a:defRPr sz="1300">
                <a:solidFill>
                  <a:srgbClr val="0F172A"/>
                </a:solidFill>
              </a:defRPr>
            </a:pPr>
            <a:r>
              <a:t>•  Eden Housing Scam: 12,000+ families defrauded of Rs. 25 Billion.</a:t>
            </a:r>
          </a:p>
          <a:p>
            <a:pPr>
              <a:spcAft>
                <a:spcPts val="600"/>
              </a:spcAft>
              <a:defRPr sz="1300">
                <a:solidFill>
                  <a:srgbClr val="0F172A"/>
                </a:solidFill>
              </a:defRPr>
            </a:pPr>
            <a:r>
              <a:t>•  391 Illegal Societies in Isb/Rwp alone (90% lack valid CDA/RDA NOCs).</a:t>
            </a:r>
          </a:p>
        </p:txBody>
      </p:sp>
      <p:sp>
        <p:nvSpPr>
          <p:cNvPr id="6" name="Rectangle 5"/>
          <p:cNvSpPr/>
          <p:nvPr/>
        </p:nvSpPr>
        <p:spPr>
          <a:xfrm>
            <a:off x="548640" y="4069080"/>
            <a:ext cx="5303520" cy="2286000"/>
          </a:xfrm>
          <a:prstGeom prst="rect">
            <a:avLst/>
          </a:prstGeom>
          <a:solidFill>
            <a:srgbClr val="ECFDF5"/>
          </a:solidFill>
          <a:ln w="1905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47857"/>
                </a:solidFill>
              </a:defRPr>
            </a:pPr>
            <a:r>
              <a:t>[ PASTE IMAGE HERE ]</a:t>
            </a:r>
            <a:br/>
            <a:r>
              <a:t>Paste Bari Imam Demolition Photo + Dawn News Eden Scam Clipping</a:t>
            </a:r>
            <a:br/>
            <a:r>
              <a:t>(From Old Slides 3, 4 &amp; 5)</a:t>
            </a:r>
          </a:p>
        </p:txBody>
      </p:sp>
      <p:sp>
        <p:nvSpPr>
          <p:cNvPr id="7" name="Rounded Rectangle 6"/>
          <p:cNvSpPr/>
          <p:nvPr/>
        </p:nvSpPr>
        <p:spPr>
          <a:xfrm>
            <a:off x="6126480" y="1691640"/>
            <a:ext cx="548640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1828800"/>
            <a:ext cx="5120640" cy="4389120"/>
          </a:xfrm>
          <a:prstGeom prst="rect">
            <a:avLst/>
          </a:prstGeom>
          <a:noFill/>
        </p:spPr>
        <p:txBody>
          <a:bodyPr wrap="square">
            <a:spAutoFit/>
          </a:bodyPr>
          <a:lstStyle/>
          <a:p>
            <a:pPr>
              <a:spcAft>
                <a:spcPts val="800"/>
              </a:spcAft>
              <a:defRPr sz="1700" b="1">
                <a:solidFill>
                  <a:srgbClr val="047857"/>
                </a:solidFill>
              </a:defRPr>
            </a:pPr>
            <a:r>
              <a:t>Why Current Workarounds Fail</a:t>
            </a:r>
          </a:p>
          <a:p>
            <a:pPr>
              <a:spcAft>
                <a:spcPts val="600"/>
              </a:spcAft>
              <a:defRPr sz="1300">
                <a:solidFill>
                  <a:srgbClr val="0F172A"/>
                </a:solidFill>
              </a:defRPr>
            </a:pPr>
            <a:r>
              <a:t>•  Compromised Middlemen: Dealers charge 1%–2% commission (plus up to 5% hidden price padding) and push high-kickback, illegal plots.</a:t>
            </a:r>
          </a:p>
          <a:p>
            <a:pPr>
              <a:spcAft>
                <a:spcPts val="600"/>
              </a:spcAft>
              <a:defRPr sz="1300">
                <a:solidFill>
                  <a:srgbClr val="0F172A"/>
                </a:solidFill>
              </a:defRPr>
            </a:pPr>
            <a:r>
              <a:t>•  Zero Spatial Transparency: Traditional portals only host static ads—hiding seasonal floodplains, steep slopes, and missing NOCs.</a:t>
            </a:r>
          </a:p>
          <a:p>
            <a:pPr>
              <a:spcAft>
                <a:spcPts val="600"/>
              </a:spcAft>
              <a:defRPr sz="1300">
                <a:solidFill>
                  <a:srgbClr val="0F172A"/>
                </a:solidFill>
              </a:defRPr>
            </a:pPr>
            <a:r>
              <a:t>•  Forged Documentation: Up to 35% of disputes involve forged Fards or fake allotment letters.</a:t>
            </a:r>
          </a:p>
          <a:p>
            <a:pPr>
              <a:spcAft>
                <a:spcPts val="600"/>
              </a:spcAft>
              <a:defRPr sz="1300">
                <a:solidFill>
                  <a:srgbClr val="0F172A"/>
                </a:solidFill>
              </a:defRPr>
            </a:pPr>
            <a:r>
              <a:t>•  Remote Blindness: 1 in 3 Overseas Pakistanis face fraud or qabza because they cannot inspect ground reality remotely.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ounded Rectangle 1"/>
          <p:cNvSpPr/>
          <p:nvPr/>
        </p:nvSpPr>
        <p:spPr>
          <a:xfrm>
            <a:off x="548640" y="365760"/>
            <a:ext cx="2377440" cy="347472"/>
          </a:xfrm>
          <a:prstGeom prst="round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02 | THE SOLUTION</a:t>
            </a:r>
          </a:p>
        </p:txBody>
      </p:sp>
      <p:sp>
        <p:nvSpPr>
          <p:cNvPr id="3" name="TextBox 2"/>
          <p:cNvSpPr txBox="1"/>
          <p:nvPr/>
        </p:nvSpPr>
        <p:spPr>
          <a:xfrm>
            <a:off x="548640" y="749808"/>
            <a:ext cx="11064240" cy="822960"/>
          </a:xfrm>
          <a:prstGeom prst="rect">
            <a:avLst/>
          </a:prstGeom>
          <a:noFill/>
        </p:spPr>
        <p:txBody>
          <a:bodyPr wrap="square">
            <a:spAutoFit/>
          </a:bodyPr>
          <a:lstStyle/>
          <a:p>
            <a:pPr>
              <a:defRPr sz="2800" b="1">
                <a:solidFill>
                  <a:srgbClr val="0F172A"/>
                </a:solidFill>
              </a:defRPr>
            </a:pPr>
            <a:r>
              <a:t>NAQSHAI: Mathematical Due Diligence Before You Buy</a:t>
            </a:r>
          </a:p>
          <a:p>
            <a:pPr>
              <a:defRPr sz="1400">
                <a:solidFill>
                  <a:srgbClr val="475569"/>
                </a:solidFill>
              </a:defRPr>
            </a:pPr>
            <a:r>
              <a:t>Replacing blind property speculation with automated legal checks and 3D risk intelligence.</a:t>
            </a:r>
          </a:p>
        </p:txBody>
      </p:sp>
      <p:sp>
        <p:nvSpPr>
          <p:cNvPr id="4" name="Rounded Rectangle 3"/>
          <p:cNvSpPr/>
          <p:nvPr/>
        </p:nvSpPr>
        <p:spPr>
          <a:xfrm>
            <a:off x="548640" y="1691640"/>
            <a:ext cx="56692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0"/>
            <a:ext cx="5303520" cy="4389120"/>
          </a:xfrm>
          <a:prstGeom prst="rect">
            <a:avLst/>
          </a:prstGeom>
          <a:noFill/>
        </p:spPr>
        <p:txBody>
          <a:bodyPr wrap="square">
            <a:spAutoFit/>
          </a:bodyPr>
          <a:lstStyle/>
          <a:p>
            <a:pPr>
              <a:spcAft>
                <a:spcPts val="800"/>
              </a:spcAft>
              <a:defRPr sz="1700" b="1">
                <a:solidFill>
                  <a:srgbClr val="047857"/>
                </a:solidFill>
              </a:defRPr>
            </a:pPr>
            <a:r>
              <a:t>Quantifiable Benefits for Buyers &amp; Sellers</a:t>
            </a:r>
          </a:p>
          <a:p>
            <a:pPr>
              <a:spcAft>
                <a:spcPts val="600"/>
              </a:spcAft>
              <a:defRPr sz="1300">
                <a:solidFill>
                  <a:srgbClr val="0F172A"/>
                </a:solidFill>
              </a:defRPr>
            </a:pPr>
            <a:r>
              <a:t>•  100% Broker Commission Saved: Direct verified owner connection eliminates the 1%–2% fee (saves PKR 200K–400K on a 1-Crore plot).</a:t>
            </a:r>
          </a:p>
          <a:p>
            <a:pPr>
              <a:spcAft>
                <a:spcPts val="600"/>
              </a:spcAft>
              <a:defRPr sz="1300">
                <a:solidFill>
                  <a:srgbClr val="0F172A"/>
                </a:solidFill>
              </a:defRPr>
            </a:pPr>
            <a:r>
              <a:t>•  Due Diligence in &lt;30 Seconds (Down from Weeks): Instant 0–100 Haversine Amenity Index, CDA/RDA NOC status, and Environmental Audit (Flood, Elevation, Noise in dB).</a:t>
            </a:r>
          </a:p>
          <a:p>
            <a:pPr>
              <a:spcAft>
                <a:spcPts val="600"/>
              </a:spcAft>
              <a:defRPr sz="1300">
                <a:solidFill>
                  <a:srgbClr val="0F172A"/>
                </a:solidFill>
              </a:defRPr>
            </a:pPr>
            <a:r>
              <a:t>•  Zero Travel Cost for Overseas Buyers: 3D satellite boundary polygons + 360° ground walkthroughs spot steep foundation slopes remotely.</a:t>
            </a:r>
          </a:p>
          <a:p>
            <a:pPr>
              <a:spcAft>
                <a:spcPts val="600"/>
              </a:spcAft>
              <a:defRPr sz="1300">
                <a:solidFill>
                  <a:srgbClr val="0F172A"/>
                </a:solidFill>
              </a:defRPr>
            </a:pPr>
            <a:r>
              <a:t>•  Zero Language Barrier: 24/7 RAG AI Advisor in English, Urdu, and Roman Urdu with voice read-aloud.</a:t>
            </a:r>
          </a:p>
        </p:txBody>
      </p:sp>
      <p:sp>
        <p:nvSpPr>
          <p:cNvPr id="6" name="Rectangle 5"/>
          <p:cNvSpPr/>
          <p:nvPr/>
        </p:nvSpPr>
        <p:spPr>
          <a:xfrm>
            <a:off x="6492240" y="1691640"/>
            <a:ext cx="5120640" cy="2240280"/>
          </a:xfrm>
          <a:prstGeom prst="rect">
            <a:avLst/>
          </a:prstGeom>
          <a:solidFill>
            <a:srgbClr val="ECFDF5"/>
          </a:solidFill>
          <a:ln w="1905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47857"/>
                </a:solidFill>
              </a:defRPr>
            </a:pPr>
            <a:r>
              <a:t>[ PASTE IMAGE HERE ]</a:t>
            </a:r>
            <a:br/>
            <a:r>
              <a:t>Paste Environmental Indicators + Amenity Score UI Cards</a:t>
            </a:r>
            <a:br/>
            <a:r>
              <a:t>(From Old Slide 8)</a:t>
            </a:r>
          </a:p>
        </p:txBody>
      </p:sp>
      <p:sp>
        <p:nvSpPr>
          <p:cNvPr id="7" name="Rectangle 6"/>
          <p:cNvSpPr/>
          <p:nvPr/>
        </p:nvSpPr>
        <p:spPr>
          <a:xfrm>
            <a:off x="6492240" y="4114800"/>
            <a:ext cx="5120640" cy="2240280"/>
          </a:xfrm>
          <a:prstGeom prst="rect">
            <a:avLst/>
          </a:prstGeom>
          <a:solidFill>
            <a:srgbClr val="ECFDF5"/>
          </a:solidFill>
          <a:ln w="1905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47857"/>
                </a:solidFill>
              </a:defRPr>
            </a:pPr>
            <a:r>
              <a:t>[ PASTE IMAGE HERE ]</a:t>
            </a:r>
            <a:br/>
            <a:r>
              <a:t>Paste 360° 3D Walk-through Screenshot + RAG Chat UI</a:t>
            </a:r>
            <a:br/>
            <a:r>
              <a:t>(From Old Slides 9 &amp;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ounded Rectangle 1"/>
          <p:cNvSpPr/>
          <p:nvPr/>
        </p:nvSpPr>
        <p:spPr>
          <a:xfrm>
            <a:off x="548640" y="365760"/>
            <a:ext cx="2377440" cy="347472"/>
          </a:xfrm>
          <a:prstGeom prst="round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03 | WHY NOW?</a:t>
            </a:r>
          </a:p>
        </p:txBody>
      </p:sp>
      <p:sp>
        <p:nvSpPr>
          <p:cNvPr id="3" name="TextBox 2"/>
          <p:cNvSpPr txBox="1"/>
          <p:nvPr/>
        </p:nvSpPr>
        <p:spPr>
          <a:xfrm>
            <a:off x="548640" y="749808"/>
            <a:ext cx="11064240" cy="822960"/>
          </a:xfrm>
          <a:prstGeom prst="rect">
            <a:avLst/>
          </a:prstGeom>
          <a:noFill/>
        </p:spPr>
        <p:txBody>
          <a:bodyPr wrap="square">
            <a:spAutoFit/>
          </a:bodyPr>
          <a:lstStyle/>
          <a:p>
            <a:pPr>
              <a:defRPr sz="2800" b="1">
                <a:solidFill>
                  <a:srgbClr val="0F172A"/>
                </a:solidFill>
              </a:defRPr>
            </a:pPr>
            <a:r>
              <a:t>The Perfect Convergence of Regulation, Digitization &amp; AI</a:t>
            </a:r>
          </a:p>
          <a:p>
            <a:pPr>
              <a:defRPr sz="1400">
                <a:solidFill>
                  <a:srgbClr val="475569"/>
                </a:solidFill>
              </a:defRPr>
            </a:pPr>
            <a:r>
              <a:t>Why this couldn't be built 5 years ago—and why waiting 5 more years is too late.</a:t>
            </a:r>
          </a:p>
        </p:txBody>
      </p:sp>
      <p:sp>
        <p:nvSpPr>
          <p:cNvPr id="4" name="Rounded Rectangle 3"/>
          <p:cNvSpPr/>
          <p:nvPr/>
        </p:nvSpPr>
        <p:spPr>
          <a:xfrm>
            <a:off x="548640" y="1737360"/>
            <a:ext cx="3520440" cy="4480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74519"/>
            <a:ext cx="3154680" cy="4206240"/>
          </a:xfrm>
          <a:prstGeom prst="rect">
            <a:avLst/>
          </a:prstGeom>
          <a:noFill/>
        </p:spPr>
        <p:txBody>
          <a:bodyPr wrap="square">
            <a:spAutoFit/>
          </a:bodyPr>
          <a:lstStyle/>
          <a:p>
            <a:pPr>
              <a:spcAft>
                <a:spcPts val="800"/>
              </a:spcAft>
              <a:defRPr sz="1700" b="1">
                <a:solidFill>
                  <a:srgbClr val="047857"/>
                </a:solidFill>
              </a:defRPr>
            </a:pPr>
            <a:r>
              <a:t>1. Regulatory Crackdowns</a:t>
            </a:r>
          </a:p>
          <a:p>
            <a:pPr>
              <a:spcAft>
                <a:spcPts val="600"/>
              </a:spcAft>
              <a:defRPr sz="1300">
                <a:solidFill>
                  <a:srgbClr val="0F172A"/>
                </a:solidFill>
              </a:defRPr>
            </a:pPr>
            <a:r>
              <a:t>•  High-profile CDA/RDA demolition drives (Bari Imam, Margalla foothills).</a:t>
            </a:r>
          </a:p>
          <a:p>
            <a:pPr>
              <a:spcAft>
                <a:spcPts val="600"/>
              </a:spcAft>
              <a:defRPr sz="1300">
                <a:solidFill>
                  <a:srgbClr val="0F172A"/>
                </a:solidFill>
              </a:defRPr>
            </a:pPr>
            <a:r>
              <a:t>•  NAB recovered Rs. 43.3B for 24,365 fraud victims in 2026 alone.</a:t>
            </a:r>
          </a:p>
          <a:p>
            <a:pPr>
              <a:spcAft>
                <a:spcPts val="600"/>
              </a:spcAft>
              <a:defRPr sz="1300">
                <a:solidFill>
                  <a:srgbClr val="0F172A"/>
                </a:solidFill>
              </a:defRPr>
            </a:pPr>
            <a:r>
              <a:t>•  Cultural shift: Buyers now demand verified NOC &amp; title proof before token money.</a:t>
            </a:r>
          </a:p>
        </p:txBody>
      </p:sp>
      <p:sp>
        <p:nvSpPr>
          <p:cNvPr id="6" name="Rounded Rectangle 5"/>
          <p:cNvSpPr/>
          <p:nvPr/>
        </p:nvSpPr>
        <p:spPr>
          <a:xfrm>
            <a:off x="4334256" y="1737360"/>
            <a:ext cx="3520440" cy="4480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17136" y="1874519"/>
            <a:ext cx="3154680" cy="4206240"/>
          </a:xfrm>
          <a:prstGeom prst="rect">
            <a:avLst/>
          </a:prstGeom>
          <a:noFill/>
        </p:spPr>
        <p:txBody>
          <a:bodyPr wrap="square">
            <a:spAutoFit/>
          </a:bodyPr>
          <a:lstStyle/>
          <a:p>
            <a:pPr>
              <a:spcAft>
                <a:spcPts val="800"/>
              </a:spcAft>
              <a:defRPr sz="1700" b="1">
                <a:solidFill>
                  <a:srgbClr val="047857"/>
                </a:solidFill>
              </a:defRPr>
            </a:pPr>
            <a:r>
              <a:t>2. Gov Registry Digitization</a:t>
            </a:r>
          </a:p>
          <a:p>
            <a:pPr>
              <a:spcAft>
                <a:spcPts val="600"/>
              </a:spcAft>
              <a:defRPr sz="1300">
                <a:solidFill>
                  <a:srgbClr val="0F172A"/>
                </a:solidFill>
              </a:defRPr>
            </a:pPr>
            <a:r>
              <a:t>•  PLRA computerized Fards (punjab-zameen.gov.pk) &amp; Punjab e-Stamps now issue cryptographic serials &amp; QR codes.</a:t>
            </a:r>
          </a:p>
          <a:p>
            <a:pPr>
              <a:spcAft>
                <a:spcPts val="600"/>
              </a:spcAft>
              <a:defRPr sz="1300">
                <a:solidFill>
                  <a:srgbClr val="0F172A"/>
                </a:solidFill>
              </a:defRPr>
            </a:pPr>
            <a:r>
              <a:t>•  CDA Online NOC &amp; Dastak portals enable digital verification lookup for the first time.</a:t>
            </a:r>
          </a:p>
        </p:txBody>
      </p:sp>
      <p:sp>
        <p:nvSpPr>
          <p:cNvPr id="8" name="Rounded Rectangle 7"/>
          <p:cNvSpPr/>
          <p:nvPr/>
        </p:nvSpPr>
        <p:spPr>
          <a:xfrm>
            <a:off x="8119872" y="1737360"/>
            <a:ext cx="3520440" cy="4480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02752" y="1874519"/>
            <a:ext cx="3154680" cy="4206240"/>
          </a:xfrm>
          <a:prstGeom prst="rect">
            <a:avLst/>
          </a:prstGeom>
          <a:noFill/>
        </p:spPr>
        <p:txBody>
          <a:bodyPr wrap="square">
            <a:spAutoFit/>
          </a:bodyPr>
          <a:lstStyle/>
          <a:p>
            <a:pPr>
              <a:spcAft>
                <a:spcPts val="800"/>
              </a:spcAft>
              <a:defRPr sz="1700" b="1">
                <a:solidFill>
                  <a:srgbClr val="047857"/>
                </a:solidFill>
              </a:defRPr>
            </a:pPr>
            <a:r>
              <a:t>3. Multimodal Vision AI</a:t>
            </a:r>
          </a:p>
          <a:p>
            <a:pPr>
              <a:spcAft>
                <a:spcPts val="600"/>
              </a:spcAft>
              <a:defRPr sz="1300">
                <a:solidFill>
                  <a:srgbClr val="0F172A"/>
                </a:solidFill>
              </a:defRPr>
            </a:pPr>
            <a:r>
              <a:t>•  5 years ago, traditional OCR failed on complex Urdu/English Pakistani land deeds.</a:t>
            </a:r>
          </a:p>
          <a:p>
            <a:pPr>
              <a:spcAft>
                <a:spcPts val="600"/>
              </a:spcAft>
              <a:defRPr sz="1300">
                <a:solidFill>
                  <a:srgbClr val="0F172A"/>
                </a:solidFill>
              </a:defRPr>
            </a:pPr>
            <a:r>
              <a:t>•  Gemini 2.5 Flash Vision + pgvector enables sub-second document auditing &amp; Roman Urdu spatial RAG at near-zero cost.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ounded Rectangle 1"/>
          <p:cNvSpPr/>
          <p:nvPr/>
        </p:nvSpPr>
        <p:spPr>
          <a:xfrm>
            <a:off x="548640" y="365760"/>
            <a:ext cx="2377440" cy="347472"/>
          </a:xfrm>
          <a:prstGeom prst="round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04 | MARKET SIZE</a:t>
            </a:r>
          </a:p>
        </p:txBody>
      </p:sp>
      <p:sp>
        <p:nvSpPr>
          <p:cNvPr id="3" name="TextBox 2"/>
          <p:cNvSpPr txBox="1"/>
          <p:nvPr/>
        </p:nvSpPr>
        <p:spPr>
          <a:xfrm>
            <a:off x="548640" y="749808"/>
            <a:ext cx="11064240" cy="822960"/>
          </a:xfrm>
          <a:prstGeom prst="rect">
            <a:avLst/>
          </a:prstGeom>
          <a:noFill/>
        </p:spPr>
        <p:txBody>
          <a:bodyPr wrap="square">
            <a:spAutoFit/>
          </a:bodyPr>
          <a:lstStyle/>
          <a:p>
            <a:pPr>
              <a:defRPr sz="2800" b="1">
                <a:solidFill>
                  <a:srgbClr val="0F172A"/>
                </a:solidFill>
              </a:defRPr>
            </a:pPr>
            <a:r>
              <a:t>Bottom-Up Market Opportunity (TAM → SAM → SOM)</a:t>
            </a:r>
          </a:p>
          <a:p>
            <a:pPr>
              <a:defRPr sz="1400">
                <a:solidFill>
                  <a:srgbClr val="475569"/>
                </a:solidFill>
              </a:defRPr>
            </a:pPr>
            <a:r>
              <a:t>Calculated from actual transaction volume × PKR 2,500 average verification fee (not arbitrary % claims).</a:t>
            </a:r>
          </a:p>
        </p:txBody>
      </p:sp>
      <p:sp>
        <p:nvSpPr>
          <p:cNvPr id="4" name="Rounded Rectangle 3"/>
          <p:cNvSpPr/>
          <p:nvPr/>
        </p:nvSpPr>
        <p:spPr>
          <a:xfrm>
            <a:off x="548640" y="1737360"/>
            <a:ext cx="3520440" cy="4480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74519"/>
            <a:ext cx="3154680" cy="4206240"/>
          </a:xfrm>
          <a:prstGeom prst="rect">
            <a:avLst/>
          </a:prstGeom>
          <a:noFill/>
        </p:spPr>
        <p:txBody>
          <a:bodyPr wrap="square">
            <a:spAutoFit/>
          </a:bodyPr>
          <a:lstStyle/>
          <a:p>
            <a:pPr>
              <a:spcAft>
                <a:spcPts val="800"/>
              </a:spcAft>
              <a:defRPr sz="1700" b="1">
                <a:solidFill>
                  <a:srgbClr val="047857"/>
                </a:solidFill>
              </a:defRPr>
            </a:pPr>
            <a:r>
              <a:t>TAM: PKR 4.24 Billion / yr</a:t>
            </a:r>
          </a:p>
          <a:p>
            <a:pPr>
              <a:spcAft>
                <a:spcPts val="600"/>
              </a:spcAft>
              <a:defRPr sz="1300">
                <a:solidFill>
                  <a:srgbClr val="0F172A"/>
                </a:solidFill>
              </a:defRPr>
            </a:pPr>
            <a:r>
              <a:t>•  Scope: Pakistan National Property Market.</a:t>
            </a:r>
          </a:p>
          <a:p>
            <a:pPr>
              <a:spcAft>
                <a:spcPts val="600"/>
              </a:spcAft>
              <a:defRPr sz="1300">
                <a:solidFill>
                  <a:srgbClr val="0F172A"/>
                </a:solidFill>
              </a:defRPr>
            </a:pPr>
            <a:r>
              <a:t>•  1.695M annual FBR transactions (Rs. 7.1T turnover; 93.7% under Rs. 5M).</a:t>
            </a:r>
          </a:p>
          <a:p>
            <a:pPr>
              <a:spcAft>
                <a:spcPts val="600"/>
              </a:spcAft>
              <a:defRPr sz="1300">
                <a:solidFill>
                  <a:srgbClr val="0F172A"/>
                </a:solidFill>
              </a:defRPr>
            </a:pPr>
            <a:r>
              <a:t>•  Bottom-Up Math: 1.695M deals × PKR 2,500 avg. verification fee = PKR 4.24B annual fee pool.</a:t>
            </a:r>
          </a:p>
        </p:txBody>
      </p:sp>
      <p:sp>
        <p:nvSpPr>
          <p:cNvPr id="6" name="Rounded Rectangle 5"/>
          <p:cNvSpPr/>
          <p:nvPr/>
        </p:nvSpPr>
        <p:spPr>
          <a:xfrm>
            <a:off x="4334256" y="1737360"/>
            <a:ext cx="3520440" cy="4480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17136" y="1874519"/>
            <a:ext cx="3154680" cy="4206240"/>
          </a:xfrm>
          <a:prstGeom prst="rect">
            <a:avLst/>
          </a:prstGeom>
          <a:noFill/>
        </p:spPr>
        <p:txBody>
          <a:bodyPr wrap="square">
            <a:spAutoFit/>
          </a:bodyPr>
          <a:lstStyle/>
          <a:p>
            <a:pPr>
              <a:spcAft>
                <a:spcPts val="800"/>
              </a:spcAft>
              <a:defRPr sz="1700" b="1">
                <a:solidFill>
                  <a:srgbClr val="047857"/>
                </a:solidFill>
              </a:defRPr>
            </a:pPr>
            <a:r>
              <a:t>SAM: PKR 375 Million / yr</a:t>
            </a:r>
          </a:p>
          <a:p>
            <a:pPr>
              <a:spcAft>
                <a:spcPts val="600"/>
              </a:spcAft>
              <a:defRPr sz="1300">
                <a:solidFill>
                  <a:srgbClr val="0F172A"/>
                </a:solidFill>
              </a:defRPr>
            </a:pPr>
            <a:r>
              <a:t>•  Scope: Islamabad &amp; Rawalpindi Digital &amp; Overseas Market.</a:t>
            </a:r>
          </a:p>
          <a:p>
            <a:pPr>
              <a:spcAft>
                <a:spcPts val="600"/>
              </a:spcAft>
              <a:defRPr sz="1300">
                <a:solidFill>
                  <a:srgbClr val="0F172A"/>
                </a:solidFill>
              </a:defRPr>
            </a:pPr>
            <a:r>
              <a:t>•  8.48M residents (2.36M Isb + 6.12M Rwp) + diaspora investors in DHA, Bahria, Gulberg &amp; CDA sectors.</a:t>
            </a:r>
          </a:p>
          <a:p>
            <a:pPr>
              <a:spcAft>
                <a:spcPts val="600"/>
              </a:spcAft>
              <a:defRPr sz="1300">
                <a:solidFill>
                  <a:srgbClr val="0F172A"/>
                </a:solidFill>
              </a:defRPr>
            </a:pPr>
            <a:r>
              <a:t>•  Bottom-Up Math: ~150,000 active annual plot listings/transfers × PKR 2,500 = PKR 375M.</a:t>
            </a:r>
          </a:p>
        </p:txBody>
      </p:sp>
      <p:sp>
        <p:nvSpPr>
          <p:cNvPr id="8" name="Rounded Rectangle 7"/>
          <p:cNvSpPr/>
          <p:nvPr/>
        </p:nvSpPr>
        <p:spPr>
          <a:xfrm>
            <a:off x="8119872" y="1737360"/>
            <a:ext cx="3520440" cy="4480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02752" y="1874519"/>
            <a:ext cx="3154680" cy="4206240"/>
          </a:xfrm>
          <a:prstGeom prst="rect">
            <a:avLst/>
          </a:prstGeom>
          <a:noFill/>
        </p:spPr>
        <p:txBody>
          <a:bodyPr wrap="square">
            <a:spAutoFit/>
          </a:bodyPr>
          <a:lstStyle/>
          <a:p>
            <a:pPr>
              <a:spcAft>
                <a:spcPts val="800"/>
              </a:spcAft>
              <a:defRPr sz="1700" b="1">
                <a:solidFill>
                  <a:srgbClr val="047857"/>
                </a:solidFill>
              </a:defRPr>
            </a:pPr>
            <a:r>
              <a:t>SOM: PKR 45 Million / yr</a:t>
            </a:r>
          </a:p>
          <a:p>
            <a:pPr>
              <a:spcAft>
                <a:spcPts val="600"/>
              </a:spcAft>
              <a:defRPr sz="1300">
                <a:solidFill>
                  <a:srgbClr val="0F172A"/>
                </a:solidFill>
              </a:defRPr>
            </a:pPr>
            <a:r>
              <a:t>•  Scope: 3-Year Twin Cities Target.</a:t>
            </a:r>
          </a:p>
          <a:p>
            <a:pPr>
              <a:spcAft>
                <a:spcPts val="600"/>
              </a:spcAft>
              <a:defRPr sz="1300">
                <a:solidFill>
                  <a:srgbClr val="0F172A"/>
                </a:solidFill>
              </a:defRPr>
            </a:pPr>
            <a:r>
              <a:t>•  B2C: 10,000 verified seller listings × PKR 2,500 = PKR 25M.</a:t>
            </a:r>
          </a:p>
          <a:p>
            <a:pPr>
              <a:spcAft>
                <a:spcPts val="600"/>
              </a:spcAft>
              <a:defRPr sz="1300">
                <a:solidFill>
                  <a:srgbClr val="0F172A"/>
                </a:solidFill>
              </a:defRPr>
            </a:pPr>
            <a:r>
              <a:t>•  B2B: 40 Agency/Developer Verification API licenses × PKR 500K/yr = PKR 20M.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ounded Rectangle 1"/>
          <p:cNvSpPr/>
          <p:nvPr/>
        </p:nvSpPr>
        <p:spPr>
          <a:xfrm>
            <a:off x="548640" y="365760"/>
            <a:ext cx="2377440" cy="347472"/>
          </a:xfrm>
          <a:prstGeom prst="round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05 | COMPETITION</a:t>
            </a:r>
          </a:p>
        </p:txBody>
      </p:sp>
      <p:sp>
        <p:nvSpPr>
          <p:cNvPr id="3" name="TextBox 2"/>
          <p:cNvSpPr txBox="1"/>
          <p:nvPr/>
        </p:nvSpPr>
        <p:spPr>
          <a:xfrm>
            <a:off x="548640" y="749808"/>
            <a:ext cx="11064240" cy="822960"/>
          </a:xfrm>
          <a:prstGeom prst="rect">
            <a:avLst/>
          </a:prstGeom>
          <a:noFill/>
        </p:spPr>
        <p:txBody>
          <a:bodyPr wrap="square">
            <a:spAutoFit/>
          </a:bodyPr>
          <a:lstStyle/>
          <a:p>
            <a:pPr>
              <a:defRPr sz="2800" b="1">
                <a:solidFill>
                  <a:srgbClr val="0F172A"/>
                </a:solidFill>
              </a:defRPr>
            </a:pPr>
            <a:r>
              <a:t>Competitive Matrix: Due Diligence vs. Classified Portals</a:t>
            </a:r>
          </a:p>
          <a:p>
            <a:pPr>
              <a:defRPr sz="1400">
                <a:solidFill>
                  <a:srgbClr val="475569"/>
                </a:solidFill>
              </a:defRPr>
            </a:pPr>
            <a:r>
              <a:t>Traditional platforms show what is for sale; NAQSHAI verifies whether it is legally and structurally safe to buy.</a:t>
            </a:r>
          </a:p>
        </p:txBody>
      </p:sp>
      <p:graphicFrame>
        <p:nvGraphicFramePr>
          <p:cNvPr id="4" name="Table 3"/>
          <p:cNvGraphicFramePr>
            <a:graphicFrameLocks noGrp="1"/>
          </p:cNvGraphicFramePr>
          <p:nvPr/>
        </p:nvGraphicFramePr>
        <p:xfrm>
          <a:off x="548640" y="1691640"/>
          <a:ext cx="11091672" cy="4572000"/>
        </p:xfrm>
        <a:graphic>
          <a:graphicData uri="http://schemas.openxmlformats.org/drawingml/2006/table">
            <a:tbl>
              <a:tblPr firstRow="1" bandRow="1">
                <a:tableStyleId>{5C22544A-7EE6-4342-B048-85BDC9FD1C3A}</a:tableStyleId>
              </a:tblPr>
              <a:tblGrid>
                <a:gridCol w="2218334"/>
                <a:gridCol w="2218334"/>
                <a:gridCol w="2218334"/>
                <a:gridCol w="2218334"/>
                <a:gridCol w="2218336"/>
              </a:tblGrid>
              <a:tr h="653142">
                <a:tc>
                  <a:txBody>
                    <a:bodyPr/>
                    <a:lstStyle/>
                    <a:p>
                      <a:pPr>
                        <a:defRPr sz="1300" b="1">
                          <a:solidFill>
                            <a:srgbClr val="FFFFFF"/>
                          </a:solidFill>
                        </a:defRPr>
                      </a:pPr>
                      <a:r>
                        <a:t>Feature / Advantage</a:t>
                      </a:r>
                    </a:p>
                  </a:txBody>
                  <a:tcPr>
                    <a:solidFill>
                      <a:srgbClr val="0F172A"/>
                    </a:solidFill>
                  </a:tcPr>
                </a:tc>
                <a:tc>
                  <a:txBody>
                    <a:bodyPr/>
                    <a:lstStyle/>
                    <a:p>
                      <a:pPr>
                        <a:defRPr sz="1300" b="1">
                          <a:solidFill>
                            <a:srgbClr val="FFFFFF"/>
                          </a:solidFill>
                        </a:defRPr>
                      </a:pPr>
                      <a:r>
                        <a:t>Local Brokers</a:t>
                      </a:r>
                    </a:p>
                  </a:txBody>
                  <a:tcPr>
                    <a:solidFill>
                      <a:srgbClr val="0F172A"/>
                    </a:solidFill>
                  </a:tcPr>
                </a:tc>
                <a:tc>
                  <a:txBody>
                    <a:bodyPr/>
                    <a:lstStyle/>
                    <a:p>
                      <a:pPr>
                        <a:defRPr sz="1300" b="1">
                          <a:solidFill>
                            <a:srgbClr val="FFFFFF"/>
                          </a:solidFill>
                        </a:defRPr>
                      </a:pPr>
                      <a:r>
                        <a:t>Zameen / Graana</a:t>
                      </a:r>
                    </a:p>
                  </a:txBody>
                  <a:tcPr>
                    <a:solidFill>
                      <a:srgbClr val="0F172A"/>
                    </a:solidFill>
                  </a:tcPr>
                </a:tc>
                <a:tc>
                  <a:txBody>
                    <a:bodyPr/>
                    <a:lstStyle/>
                    <a:p>
                      <a:pPr>
                        <a:defRPr sz="1300" b="1">
                          <a:solidFill>
                            <a:srgbClr val="FFFFFF"/>
                          </a:solidFill>
                        </a:defRPr>
                      </a:pPr>
                      <a:r>
                        <a:t>PropSure / Bitoreal</a:t>
                      </a:r>
                    </a:p>
                  </a:txBody>
                  <a:tcPr>
                    <a:solidFill>
                      <a:srgbClr val="0F172A"/>
                    </a:solidFill>
                  </a:tcPr>
                </a:tc>
                <a:tc>
                  <a:txBody>
                    <a:bodyPr/>
                    <a:lstStyle/>
                    <a:p>
                      <a:pPr>
                        <a:defRPr sz="1300" b="1">
                          <a:solidFill>
                            <a:srgbClr val="FFFFFF"/>
                          </a:solidFill>
                        </a:defRPr>
                      </a:pPr>
                      <a:r>
                        <a:t>NAQSHAI (Us)</a:t>
                      </a:r>
                    </a:p>
                  </a:txBody>
                  <a:tcPr>
                    <a:solidFill>
                      <a:srgbClr val="047857"/>
                    </a:solidFill>
                  </a:tcPr>
                </a:tc>
              </a:tr>
              <a:tr h="653142">
                <a:tc>
                  <a:txBody>
                    <a:bodyPr/>
                    <a:lstStyle/>
                    <a:p>
                      <a:pPr>
                        <a:defRPr sz="1200" b="1">
                          <a:solidFill>
                            <a:srgbClr val="0F172A"/>
                          </a:solidFill>
                        </a:defRPr>
                      </a:pPr>
                      <a:r>
                        <a:t>Core Business Model</a:t>
                      </a:r>
                    </a:p>
                  </a:txBody>
                  <a:tcPr>
                    <a:solidFill>
                      <a:srgbClr val="FFFFFF"/>
                    </a:solidFill>
                  </a:tcPr>
                </a:tc>
                <a:tc>
                  <a:txBody>
                    <a:bodyPr/>
                    <a:lstStyle/>
                    <a:p>
                      <a:pPr>
                        <a:defRPr sz="1200" b="0">
                          <a:solidFill>
                            <a:srgbClr val="0F172A"/>
                          </a:solidFill>
                        </a:defRPr>
                      </a:pPr>
                      <a:r>
                        <a:t>1%–2% Commission</a:t>
                      </a:r>
                    </a:p>
                  </a:txBody>
                  <a:tcPr>
                    <a:solidFill>
                      <a:srgbClr val="FFFFFF"/>
                    </a:solidFill>
                  </a:tcPr>
                </a:tc>
                <a:tc>
                  <a:txBody>
                    <a:bodyPr/>
                    <a:lstStyle/>
                    <a:p>
                      <a:pPr>
                        <a:defRPr sz="1200" b="0">
                          <a:solidFill>
                            <a:srgbClr val="0F172A"/>
                          </a:solidFill>
                        </a:defRPr>
                      </a:pPr>
                      <a:r>
                        <a:t>Paid Ad Classifieds</a:t>
                      </a:r>
                    </a:p>
                  </a:txBody>
                  <a:tcPr>
                    <a:solidFill>
                      <a:srgbClr val="FFFFFF"/>
                    </a:solidFill>
                  </a:tcPr>
                </a:tc>
                <a:tc>
                  <a:txBody>
                    <a:bodyPr/>
                    <a:lstStyle/>
                    <a:p>
                      <a:pPr>
                        <a:defRPr sz="1200" b="0">
                          <a:solidFill>
                            <a:srgbClr val="0F172A"/>
                          </a:solidFill>
                        </a:defRPr>
                      </a:pPr>
                      <a:r>
                        <a:t>B2B GIS / Human Calls</a:t>
                      </a:r>
                    </a:p>
                  </a:txBody>
                  <a:tcPr>
                    <a:solidFill>
                      <a:srgbClr val="FFFFFF"/>
                    </a:solidFill>
                  </a:tcPr>
                </a:tc>
                <a:tc>
                  <a:txBody>
                    <a:bodyPr/>
                    <a:lstStyle/>
                    <a:p>
                      <a:pPr>
                        <a:defRPr sz="1200" b="1">
                          <a:solidFill>
                            <a:srgbClr val="047857"/>
                          </a:solidFill>
                        </a:defRPr>
                      </a:pPr>
                      <a:r>
                        <a:t>Self-Serve AI Verification</a:t>
                      </a:r>
                    </a:p>
                  </a:txBody>
                  <a:tcPr>
                    <a:solidFill>
                      <a:srgbClr val="ECFDF5"/>
                    </a:solidFill>
                  </a:tcPr>
                </a:tc>
              </a:tr>
              <a:tr h="653142">
                <a:tc>
                  <a:txBody>
                    <a:bodyPr/>
                    <a:lstStyle/>
                    <a:p>
                      <a:pPr>
                        <a:defRPr sz="1200" b="1">
                          <a:solidFill>
                            <a:srgbClr val="0F172A"/>
                          </a:solidFill>
                        </a:defRPr>
                      </a:pPr>
                      <a:r>
                        <a:t>2-Stage Gov Portal &amp; OCR Audit</a:t>
                      </a:r>
                    </a:p>
                  </a:txBody>
                  <a:tcPr>
                    <a:solidFill>
                      <a:srgbClr val="FFFFFF"/>
                    </a:solidFill>
                  </a:tcPr>
                </a:tc>
                <a:tc>
                  <a:txBody>
                    <a:bodyPr/>
                    <a:lstStyle/>
                    <a:p>
                      <a:pPr>
                        <a:defRPr sz="1200" b="0">
                          <a:solidFill>
                            <a:srgbClr val="0F172A"/>
                          </a:solidFill>
                        </a:defRPr>
                      </a:pPr>
                      <a:r>
                        <a:t>No (Forged files common)</a:t>
                      </a:r>
                    </a:p>
                  </a:txBody>
                  <a:tcPr>
                    <a:solidFill>
                      <a:srgbClr val="FFFFFF"/>
                    </a:solidFill>
                  </a:tcPr>
                </a:tc>
                <a:tc>
                  <a:txBody>
                    <a:bodyPr/>
                    <a:lstStyle/>
                    <a:p>
                      <a:pPr>
                        <a:defRPr sz="1200" b="0">
                          <a:solidFill>
                            <a:srgbClr val="0F172A"/>
                          </a:solidFill>
                        </a:defRPr>
                      </a:pPr>
                      <a:r>
                        <a:t>No (Unverified claims)</a:t>
                      </a:r>
                    </a:p>
                  </a:txBody>
                  <a:tcPr>
                    <a:solidFill>
                      <a:srgbClr val="FFFFFF"/>
                    </a:solidFill>
                  </a:tcPr>
                </a:tc>
                <a:tc>
                  <a:txBody>
                    <a:bodyPr/>
                    <a:lstStyle/>
                    <a:p>
                      <a:pPr>
                        <a:defRPr sz="1200" b="0">
                          <a:solidFill>
                            <a:srgbClr val="0F172A"/>
                          </a:solidFill>
                        </a:defRPr>
                      </a:pPr>
                      <a:r>
                        <a:t>Slow manual audit</a:t>
                      </a:r>
                    </a:p>
                  </a:txBody>
                  <a:tcPr>
                    <a:solidFill>
                      <a:srgbClr val="FFFFFF"/>
                    </a:solidFill>
                  </a:tcPr>
                </a:tc>
                <a:tc>
                  <a:txBody>
                    <a:bodyPr/>
                    <a:lstStyle/>
                    <a:p>
                      <a:pPr>
                        <a:defRPr sz="1200" b="1">
                          <a:solidFill>
                            <a:srgbClr val="047857"/>
                          </a:solidFill>
                        </a:defRPr>
                      </a:pPr>
                      <a:r>
                        <a:t>Instant Gemini OCR + Portal Link</a:t>
                      </a:r>
                    </a:p>
                  </a:txBody>
                  <a:tcPr>
                    <a:solidFill>
                      <a:srgbClr val="ECFDF5"/>
                    </a:solidFill>
                  </a:tcPr>
                </a:tc>
              </a:tr>
              <a:tr h="653142">
                <a:tc>
                  <a:txBody>
                    <a:bodyPr/>
                    <a:lstStyle/>
                    <a:p>
                      <a:pPr>
                        <a:defRPr sz="1200" b="1">
                          <a:solidFill>
                            <a:srgbClr val="0F172A"/>
                          </a:solidFill>
                        </a:defRPr>
                      </a:pPr>
                      <a:r>
                        <a:t>Flood, Noise (dB) &amp; Slope Math</a:t>
                      </a:r>
                    </a:p>
                  </a:txBody>
                  <a:tcPr>
                    <a:solidFill>
                      <a:srgbClr val="FFFFFF"/>
                    </a:solidFill>
                  </a:tcPr>
                </a:tc>
                <a:tc>
                  <a:txBody>
                    <a:bodyPr/>
                    <a:lstStyle/>
                    <a:p>
                      <a:pPr>
                        <a:defRPr sz="1200" b="0">
                          <a:solidFill>
                            <a:srgbClr val="0F172A"/>
                          </a:solidFill>
                        </a:defRPr>
                      </a:pPr>
                      <a:r>
                        <a:t>Hidden from buyer</a:t>
                      </a:r>
                    </a:p>
                  </a:txBody>
                  <a:tcPr>
                    <a:solidFill>
                      <a:srgbClr val="FFFFFF"/>
                    </a:solidFill>
                  </a:tcPr>
                </a:tc>
                <a:tc>
                  <a:txBody>
                    <a:bodyPr/>
                    <a:lstStyle/>
                    <a:p>
                      <a:pPr>
                        <a:defRPr sz="1200" b="0">
                          <a:solidFill>
                            <a:srgbClr val="0F172A"/>
                          </a:solidFill>
                        </a:defRPr>
                      </a:pPr>
                      <a:r>
                        <a:t>Not provided</a:t>
                      </a:r>
                    </a:p>
                  </a:txBody>
                  <a:tcPr>
                    <a:solidFill>
                      <a:srgbClr val="FFFFFF"/>
                    </a:solidFill>
                  </a:tcPr>
                </a:tc>
                <a:tc>
                  <a:txBody>
                    <a:bodyPr/>
                    <a:lstStyle/>
                    <a:p>
                      <a:pPr>
                        <a:defRPr sz="1200" b="0">
                          <a:solidFill>
                            <a:srgbClr val="0F172A"/>
                          </a:solidFill>
                        </a:defRPr>
                      </a:pPr>
                      <a:r>
                        <a:t>Paid corporate reports</a:t>
                      </a:r>
                    </a:p>
                  </a:txBody>
                  <a:tcPr>
                    <a:solidFill>
                      <a:srgbClr val="FFFFFF"/>
                    </a:solidFill>
                  </a:tcPr>
                </a:tc>
                <a:tc>
                  <a:txBody>
                    <a:bodyPr/>
                    <a:lstStyle/>
                    <a:p>
                      <a:pPr>
                        <a:defRPr sz="1200" b="1">
                          <a:solidFill>
                            <a:srgbClr val="047857"/>
                          </a:solidFill>
                        </a:defRPr>
                      </a:pPr>
                      <a:r>
                        <a:t>Free, Instant &amp; Automated</a:t>
                      </a:r>
                    </a:p>
                  </a:txBody>
                  <a:tcPr>
                    <a:solidFill>
                      <a:srgbClr val="ECFDF5"/>
                    </a:solidFill>
                  </a:tcPr>
                </a:tc>
              </a:tr>
              <a:tr h="653142">
                <a:tc>
                  <a:txBody>
                    <a:bodyPr/>
                    <a:lstStyle/>
                    <a:p>
                      <a:pPr>
                        <a:defRPr sz="1200" b="1">
                          <a:solidFill>
                            <a:srgbClr val="0F172A"/>
                          </a:solidFill>
                        </a:defRPr>
                      </a:pPr>
                      <a:r>
                        <a:t>3D Polygon + 360° Walkthrough</a:t>
                      </a:r>
                    </a:p>
                  </a:txBody>
                  <a:tcPr>
                    <a:solidFill>
                      <a:srgbClr val="FFFFFF"/>
                    </a:solidFill>
                  </a:tcPr>
                </a:tc>
                <a:tc>
                  <a:txBody>
                    <a:bodyPr/>
                    <a:lstStyle/>
                    <a:p>
                      <a:pPr>
                        <a:defRPr sz="1200" b="0">
                          <a:solidFill>
                            <a:srgbClr val="0F172A"/>
                          </a:solidFill>
                        </a:defRPr>
                      </a:pPr>
                      <a:r>
                        <a:t>Physical visit required</a:t>
                      </a:r>
                    </a:p>
                  </a:txBody>
                  <a:tcPr>
                    <a:solidFill>
                      <a:srgbClr val="FFFFFF"/>
                    </a:solidFill>
                  </a:tcPr>
                </a:tc>
                <a:tc>
                  <a:txBody>
                    <a:bodyPr/>
                    <a:lstStyle/>
                    <a:p>
                      <a:pPr>
                        <a:defRPr sz="1200" b="0">
                          <a:solidFill>
                            <a:srgbClr val="0F172A"/>
                          </a:solidFill>
                        </a:defRPr>
                      </a:pPr>
                      <a:r>
                        <a:t>2D static society maps</a:t>
                      </a:r>
                    </a:p>
                  </a:txBody>
                  <a:tcPr>
                    <a:solidFill>
                      <a:srgbClr val="FFFFFF"/>
                    </a:solidFill>
                  </a:tcPr>
                </a:tc>
                <a:tc>
                  <a:txBody>
                    <a:bodyPr/>
                    <a:lstStyle/>
                    <a:p>
                      <a:pPr>
                        <a:defRPr sz="1200" b="0">
                          <a:solidFill>
                            <a:srgbClr val="0F172A"/>
                          </a:solidFill>
                        </a:defRPr>
                      </a:pPr>
                      <a:r>
                        <a:t>2D GIS / brochures</a:t>
                      </a:r>
                    </a:p>
                  </a:txBody>
                  <a:tcPr>
                    <a:solidFill>
                      <a:srgbClr val="FFFFFF"/>
                    </a:solidFill>
                  </a:tcPr>
                </a:tc>
                <a:tc>
                  <a:txBody>
                    <a:bodyPr/>
                    <a:lstStyle/>
                    <a:p>
                      <a:pPr>
                        <a:defRPr sz="1200" b="1">
                          <a:solidFill>
                            <a:srgbClr val="047857"/>
                          </a:solidFill>
                        </a:defRPr>
                      </a:pPr>
                      <a:r>
                        <a:t>Interactive 3D + 360° Street View</a:t>
                      </a:r>
                    </a:p>
                  </a:txBody>
                  <a:tcPr>
                    <a:solidFill>
                      <a:srgbClr val="ECFDF5"/>
                    </a:solidFill>
                  </a:tcPr>
                </a:tc>
              </a:tr>
              <a:tr h="653142">
                <a:tc>
                  <a:txBody>
                    <a:bodyPr/>
                    <a:lstStyle/>
                    <a:p>
                      <a:pPr>
                        <a:defRPr sz="1200" b="1">
                          <a:solidFill>
                            <a:srgbClr val="0F172A"/>
                          </a:solidFill>
                        </a:defRPr>
                      </a:pPr>
                      <a:r>
                        <a:t>Roman Urdu Voice/Chat RAG AI</a:t>
                      </a:r>
                    </a:p>
                  </a:txBody>
                  <a:tcPr>
                    <a:solidFill>
                      <a:srgbClr val="FFFFFF"/>
                    </a:solidFill>
                  </a:tcPr>
                </a:tc>
                <a:tc>
                  <a:txBody>
                    <a:bodyPr/>
                    <a:lstStyle/>
                    <a:p>
                      <a:pPr>
                        <a:defRPr sz="1200" b="0">
                          <a:solidFill>
                            <a:srgbClr val="0F172A"/>
                          </a:solidFill>
                        </a:defRPr>
                      </a:pPr>
                      <a:r>
                        <a:t>Biased sales pitch</a:t>
                      </a:r>
                    </a:p>
                  </a:txBody>
                  <a:tcPr>
                    <a:solidFill>
                      <a:srgbClr val="FFFFFF"/>
                    </a:solidFill>
                  </a:tcPr>
                </a:tc>
                <a:tc>
                  <a:txBody>
                    <a:bodyPr/>
                    <a:lstStyle/>
                    <a:p>
                      <a:pPr>
                        <a:defRPr sz="1200" b="0">
                          <a:solidFill>
                            <a:srgbClr val="0F172A"/>
                          </a:solidFill>
                        </a:defRPr>
                      </a:pPr>
                      <a:r>
                        <a:t>Rigid dropdown filters</a:t>
                      </a:r>
                    </a:p>
                  </a:txBody>
                  <a:tcPr>
                    <a:solidFill>
                      <a:srgbClr val="FFFFFF"/>
                    </a:solidFill>
                  </a:tcPr>
                </a:tc>
                <a:tc>
                  <a:txBody>
                    <a:bodyPr/>
                    <a:lstStyle/>
                    <a:p>
                      <a:pPr>
                        <a:defRPr sz="1200" b="0">
                          <a:solidFill>
                            <a:srgbClr val="0F172A"/>
                          </a:solidFill>
                        </a:defRPr>
                      </a:pPr>
                      <a:r>
                        <a:t>Book 60-min phone call</a:t>
                      </a:r>
                    </a:p>
                  </a:txBody>
                  <a:tcPr>
                    <a:solidFill>
                      <a:srgbClr val="FFFFFF"/>
                    </a:solidFill>
                  </a:tcPr>
                </a:tc>
                <a:tc>
                  <a:txBody>
                    <a:bodyPr/>
                    <a:lstStyle/>
                    <a:p>
                      <a:pPr>
                        <a:defRPr sz="1200" b="1">
                          <a:solidFill>
                            <a:srgbClr val="047857"/>
                          </a:solidFill>
                        </a:defRPr>
                      </a:pPr>
                      <a:r>
                        <a:t>24/7 Multilingual Gemini RAG</a:t>
                      </a:r>
                    </a:p>
                  </a:txBody>
                  <a:tcPr>
                    <a:solidFill>
                      <a:srgbClr val="ECFDF5"/>
                    </a:solidFill>
                  </a:tcPr>
                </a:tc>
              </a:tr>
              <a:tr h="653148">
                <a:tc>
                  <a:txBody>
                    <a:bodyPr/>
                    <a:lstStyle/>
                    <a:p>
                      <a:pPr>
                        <a:defRPr sz="1200" b="1">
                          <a:solidFill>
                            <a:srgbClr val="0F172A"/>
                          </a:solidFill>
                        </a:defRPr>
                      </a:pPr>
                      <a:r>
                        <a:t>Cost to Seller / Buyer</a:t>
                      </a:r>
                    </a:p>
                  </a:txBody>
                  <a:tcPr>
                    <a:solidFill>
                      <a:srgbClr val="FFFFFF"/>
                    </a:solidFill>
                  </a:tcPr>
                </a:tc>
                <a:tc>
                  <a:txBody>
                    <a:bodyPr/>
                    <a:lstStyle/>
                    <a:p>
                      <a:pPr>
                        <a:defRPr sz="1200" b="0">
                          <a:solidFill>
                            <a:srgbClr val="0F172A"/>
                          </a:solidFill>
                        </a:defRPr>
                      </a:pPr>
                      <a:r>
                        <a:t>1%–2% + Price Padding</a:t>
                      </a:r>
                    </a:p>
                  </a:txBody>
                  <a:tcPr>
                    <a:solidFill>
                      <a:srgbClr val="FFFFFF"/>
                    </a:solidFill>
                  </a:tcPr>
                </a:tc>
                <a:tc>
                  <a:txBody>
                    <a:bodyPr/>
                    <a:lstStyle/>
                    <a:p>
                      <a:pPr>
                        <a:defRPr sz="1200" b="0">
                          <a:solidFill>
                            <a:srgbClr val="0F172A"/>
                          </a:solidFill>
                        </a:defRPr>
                      </a:pPr>
                      <a:r>
                        <a:t>Expensive Ad Packages</a:t>
                      </a:r>
                    </a:p>
                  </a:txBody>
                  <a:tcPr>
                    <a:solidFill>
                      <a:srgbClr val="FFFFFF"/>
                    </a:solidFill>
                  </a:tcPr>
                </a:tc>
                <a:tc>
                  <a:txBody>
                    <a:bodyPr/>
                    <a:lstStyle/>
                    <a:p>
                      <a:pPr>
                        <a:defRPr sz="1200" b="0">
                          <a:solidFill>
                            <a:srgbClr val="0F172A"/>
                          </a:solidFill>
                        </a:defRPr>
                      </a:pPr>
                      <a:r>
                        <a:t>Corporate Retainers</a:t>
                      </a:r>
                    </a:p>
                  </a:txBody>
                  <a:tcPr>
                    <a:solidFill>
                      <a:srgbClr val="FFFFFF"/>
                    </a:solidFill>
                  </a:tcPr>
                </a:tc>
                <a:tc>
                  <a:txBody>
                    <a:bodyPr/>
                    <a:lstStyle/>
                    <a:p>
                      <a:pPr>
                        <a:defRPr sz="1200" b="1">
                          <a:solidFill>
                            <a:srgbClr val="047857"/>
                          </a:solidFill>
                        </a:defRPr>
                      </a:pPr>
                      <a:r>
                        <a:t>PKR 1,500–3,000 Flat (0% Comm.)</a:t>
                      </a:r>
                    </a:p>
                  </a:txBody>
                  <a:tcPr>
                    <a:solidFill>
                      <a:srgbClr val="ECFDF5"/>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ounded Rectangle 1"/>
          <p:cNvSpPr/>
          <p:nvPr/>
        </p:nvSpPr>
        <p:spPr>
          <a:xfrm>
            <a:off x="548640" y="365760"/>
            <a:ext cx="2377440" cy="347472"/>
          </a:xfrm>
          <a:prstGeom prst="round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06 | PRODUCT &amp; TECHNOLOGY</a:t>
            </a:r>
          </a:p>
        </p:txBody>
      </p:sp>
      <p:sp>
        <p:nvSpPr>
          <p:cNvPr id="3" name="TextBox 2"/>
          <p:cNvSpPr txBox="1"/>
          <p:nvPr/>
        </p:nvSpPr>
        <p:spPr>
          <a:xfrm>
            <a:off x="548640" y="749808"/>
            <a:ext cx="11064240" cy="822960"/>
          </a:xfrm>
          <a:prstGeom prst="rect">
            <a:avLst/>
          </a:prstGeom>
          <a:noFill/>
        </p:spPr>
        <p:txBody>
          <a:bodyPr wrap="square">
            <a:spAutoFit/>
          </a:bodyPr>
          <a:lstStyle/>
          <a:p>
            <a:pPr>
              <a:defRPr sz="2800" b="1">
                <a:solidFill>
                  <a:srgbClr val="0F172A"/>
                </a:solidFill>
              </a:defRPr>
            </a:pPr>
            <a:r>
              <a:t>Under the Hood: 2-Stage Verification &amp; Geospatial Moat</a:t>
            </a:r>
          </a:p>
          <a:p>
            <a:pPr>
              <a:defRPr sz="1400">
                <a:solidFill>
                  <a:srgbClr val="475569"/>
                </a:solidFill>
              </a:defRPr>
            </a:pPr>
            <a:r>
              <a:t>Citizen-Mediated AI Verification Pipeline bypassing government API limitations.</a:t>
            </a:r>
          </a:p>
        </p:txBody>
      </p:sp>
      <p:sp>
        <p:nvSpPr>
          <p:cNvPr id="4" name="Rounded Rectangle 3"/>
          <p:cNvSpPr/>
          <p:nvPr/>
        </p:nvSpPr>
        <p:spPr>
          <a:xfrm>
            <a:off x="548640" y="1691640"/>
            <a:ext cx="548640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0"/>
            <a:ext cx="5120640" cy="4389120"/>
          </a:xfrm>
          <a:prstGeom prst="rect">
            <a:avLst/>
          </a:prstGeom>
          <a:noFill/>
        </p:spPr>
        <p:txBody>
          <a:bodyPr wrap="square">
            <a:spAutoFit/>
          </a:bodyPr>
          <a:lstStyle/>
          <a:p>
            <a:pPr>
              <a:spcAft>
                <a:spcPts val="800"/>
              </a:spcAft>
              <a:defRPr sz="1700" b="1">
                <a:solidFill>
                  <a:srgbClr val="047857"/>
                </a:solidFill>
              </a:defRPr>
            </a:pPr>
            <a:r>
              <a:t>How It Works &amp; Our Defensible Moat</a:t>
            </a:r>
          </a:p>
          <a:p>
            <a:pPr>
              <a:spcAft>
                <a:spcPts val="600"/>
              </a:spcAft>
              <a:defRPr sz="1300">
                <a:solidFill>
                  <a:srgbClr val="0F172A"/>
                </a:solidFill>
              </a:defRPr>
            </a:pPr>
            <a:r>
              <a:t>•  Stage 1 (Geodesic Polygon Check): Seller draws plot boundary on satellite map; PostGIS verifies area matches claimed Marla size (±10% tolerance).</a:t>
            </a:r>
          </a:p>
          <a:p>
            <a:pPr>
              <a:spcAft>
                <a:spcPts val="600"/>
              </a:spcAft>
              <a:defRPr sz="1300">
                <a:solidFill>
                  <a:srgbClr val="0F172A"/>
                </a:solidFill>
              </a:defRPr>
            </a:pPr>
            <a:r>
              <a:t>•  Stage 2 (Gemini 2.5 Vision OCR): Audits uploaded CNIC, PLRA Fard, e-Stamp, or CDA slip in private S3 bucket and extracts cryptographic barcode serials.</a:t>
            </a:r>
          </a:p>
          <a:p>
            <a:pPr>
              <a:spcAft>
                <a:spcPts val="600"/>
              </a:spcAft>
              <a:defRPr sz="1300">
                <a:solidFill>
                  <a:srgbClr val="0F172A"/>
                </a:solidFill>
              </a:defRPr>
            </a:pPr>
            <a:r>
              <a:t>•  Stage 3 (1-Click Gov Portal Bypass): Review Console links operators directly to punjab-zameen.gov.pk &amp; cda.gov.pk past CAPTCHAs before atomic RLS publish.</a:t>
            </a:r>
          </a:p>
          <a:p>
            <a:pPr>
              <a:spcAft>
                <a:spcPts val="600"/>
              </a:spcAft>
              <a:defRPr sz="1300">
                <a:solidFill>
                  <a:srgbClr val="0F172A"/>
                </a:solidFill>
              </a:defRPr>
            </a:pPr>
            <a:r>
              <a:t>•  Zero-Cost Moat: Embedded JICA flood plain models (Lai Nullah/Soan), NESPAK elevation gradients &amp; 60+ landmark Haversine engine with $0 external API cost.</a:t>
            </a:r>
          </a:p>
        </p:txBody>
      </p:sp>
      <p:sp>
        <p:nvSpPr>
          <p:cNvPr id="6" name="Rectangle 5"/>
          <p:cNvSpPr/>
          <p:nvPr/>
        </p:nvSpPr>
        <p:spPr>
          <a:xfrm>
            <a:off x="6263640" y="1691640"/>
            <a:ext cx="5376672" cy="2240280"/>
          </a:xfrm>
          <a:prstGeom prst="rect">
            <a:avLst/>
          </a:prstGeom>
          <a:solidFill>
            <a:srgbClr val="ECFDF5"/>
          </a:solidFill>
          <a:ln w="1905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47857"/>
                </a:solidFill>
              </a:defRPr>
            </a:pPr>
            <a:r>
              <a:t>[ PASTE IMAGE HERE ]</a:t>
            </a:r>
            <a:br/>
            <a:r>
              <a:t>Paste 'Map the Plot Boundary (92% Area Check)' Screenshot</a:t>
            </a:r>
            <a:br/>
            <a:r>
              <a:t>(From Old Slide 10)</a:t>
            </a:r>
          </a:p>
        </p:txBody>
      </p:sp>
      <p:sp>
        <p:nvSpPr>
          <p:cNvPr id="7" name="Rectangle 6"/>
          <p:cNvSpPr/>
          <p:nvPr/>
        </p:nvSpPr>
        <p:spPr>
          <a:xfrm>
            <a:off x="6263640" y="4114800"/>
            <a:ext cx="5376672" cy="2240280"/>
          </a:xfrm>
          <a:prstGeom prst="rect">
            <a:avLst/>
          </a:prstGeom>
          <a:solidFill>
            <a:srgbClr val="ECFDF5"/>
          </a:solidFill>
          <a:ln w="1905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47857"/>
                </a:solidFill>
              </a:defRPr>
            </a:pPr>
            <a:r>
              <a:t>[ PASTE IMAGE HERE ]</a:t>
            </a:r>
            <a:br/>
            <a:r>
              <a:t>Paste 'Admin Review Console &amp; Cryptographic Serial Verification' Screenshot</a:t>
            </a:r>
            <a:br/>
            <a:r>
              <a:t>(From Old Slide 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ounded Rectangle 1"/>
          <p:cNvSpPr/>
          <p:nvPr/>
        </p:nvSpPr>
        <p:spPr>
          <a:xfrm>
            <a:off x="548640" y="365760"/>
            <a:ext cx="2377440" cy="347472"/>
          </a:xfrm>
          <a:prstGeom prst="round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07 | TRACTION &amp; GO-TO-MARKET</a:t>
            </a:r>
          </a:p>
        </p:txBody>
      </p:sp>
      <p:sp>
        <p:nvSpPr>
          <p:cNvPr id="3" name="TextBox 2"/>
          <p:cNvSpPr txBox="1"/>
          <p:nvPr/>
        </p:nvSpPr>
        <p:spPr>
          <a:xfrm>
            <a:off x="548640" y="749808"/>
            <a:ext cx="11064240" cy="822960"/>
          </a:xfrm>
          <a:prstGeom prst="rect">
            <a:avLst/>
          </a:prstGeom>
          <a:noFill/>
        </p:spPr>
        <p:txBody>
          <a:bodyPr wrap="square">
            <a:spAutoFit/>
          </a:bodyPr>
          <a:lstStyle/>
          <a:p>
            <a:pPr>
              <a:defRPr sz="2800" b="1">
                <a:solidFill>
                  <a:srgbClr val="0F172A"/>
                </a:solidFill>
              </a:defRPr>
            </a:pPr>
            <a:r>
              <a:t>Live Validation &amp; Strategy for First 1,000 Customers</a:t>
            </a:r>
          </a:p>
          <a:p>
            <a:pPr>
              <a:defRPr sz="1400">
                <a:solidFill>
                  <a:srgbClr val="475569"/>
                </a:solidFill>
              </a:defRPr>
            </a:pPr>
            <a:r>
              <a:t>Dual B2C Pay-Per-Listing and B2B Verification API monetization engine.</a:t>
            </a:r>
          </a:p>
        </p:txBody>
      </p:sp>
      <p:sp>
        <p:nvSpPr>
          <p:cNvPr id="4" name="Rounded Rectangle 3"/>
          <p:cNvSpPr/>
          <p:nvPr/>
        </p:nvSpPr>
        <p:spPr>
          <a:xfrm>
            <a:off x="548640" y="1691640"/>
            <a:ext cx="530352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0"/>
            <a:ext cx="4937759" cy="4389120"/>
          </a:xfrm>
          <a:prstGeom prst="rect">
            <a:avLst/>
          </a:prstGeom>
          <a:noFill/>
        </p:spPr>
        <p:txBody>
          <a:bodyPr wrap="square">
            <a:spAutoFit/>
          </a:bodyPr>
          <a:lstStyle/>
          <a:p>
            <a:pPr>
              <a:spcAft>
                <a:spcPts val="800"/>
              </a:spcAft>
              <a:defRPr sz="1700" b="1">
                <a:solidFill>
                  <a:srgbClr val="047857"/>
                </a:solidFill>
              </a:defRPr>
            </a:pPr>
            <a:r>
              <a:t>Current Momentum &amp; Technical Proof</a:t>
            </a:r>
          </a:p>
          <a:p>
            <a:pPr>
              <a:spcAft>
                <a:spcPts val="600"/>
              </a:spcAft>
              <a:defRPr sz="1300">
                <a:solidFill>
                  <a:srgbClr val="0F172A"/>
                </a:solidFill>
              </a:defRPr>
            </a:pPr>
            <a:r>
              <a:t>•  Live Production MVP: Deployed at naqshaii.vercel.app with verified Twin Cities plot inventory (Gulberg Greens, Bahria Phase 8, DHA, Fazal Town).</a:t>
            </a:r>
          </a:p>
          <a:p>
            <a:pPr>
              <a:spcAft>
                <a:spcPts val="600"/>
              </a:spcAft>
              <a:defRPr sz="1300">
                <a:solidFill>
                  <a:srgbClr val="0F172A"/>
                </a:solidFill>
              </a:defRPr>
            </a:pPr>
            <a:r>
              <a:t>•  157/157 Automated End-to-End Tests Passing (100%): Full validation across OTP security, polygon overlap, Gemini Vision OCR, and portal routing.</a:t>
            </a:r>
          </a:p>
          <a:p>
            <a:pPr>
              <a:spcAft>
                <a:spcPts val="600"/>
              </a:spcAft>
              <a:defRPr sz="1300">
                <a:solidFill>
                  <a:srgbClr val="0F172A"/>
                </a:solidFill>
              </a:defRPr>
            </a:pPr>
            <a:r>
              <a:t>•  Expanded Twin-City Landmark Registry: 60+ real-world healthcare, education, transit &amp; commercial hubs live in Haversine engine.</a:t>
            </a:r>
          </a:p>
        </p:txBody>
      </p:sp>
      <p:sp>
        <p:nvSpPr>
          <p:cNvPr id="6" name="Rounded Rectangle 5"/>
          <p:cNvSpPr/>
          <p:nvPr/>
        </p:nvSpPr>
        <p:spPr>
          <a:xfrm>
            <a:off x="6126480" y="1691640"/>
            <a:ext cx="548640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0" y="1828800"/>
            <a:ext cx="5120640" cy="4389120"/>
          </a:xfrm>
          <a:prstGeom prst="rect">
            <a:avLst/>
          </a:prstGeom>
          <a:noFill/>
        </p:spPr>
        <p:txBody>
          <a:bodyPr wrap="square">
            <a:spAutoFit/>
          </a:bodyPr>
          <a:lstStyle/>
          <a:p>
            <a:pPr>
              <a:spcAft>
                <a:spcPts val="800"/>
              </a:spcAft>
              <a:defRPr sz="1700" b="1">
                <a:solidFill>
                  <a:srgbClr val="047857"/>
                </a:solidFill>
              </a:defRPr>
            </a:pPr>
            <a:r>
              <a:t>GTM: Acquiring First 1,000 Customers</a:t>
            </a:r>
          </a:p>
          <a:p>
            <a:pPr>
              <a:spcAft>
                <a:spcPts val="600"/>
              </a:spcAft>
              <a:defRPr sz="1300">
                <a:solidFill>
                  <a:srgbClr val="0F172A"/>
                </a:solidFill>
              </a:defRPr>
            </a:pPr>
            <a:r>
              <a:t>•  Step 1 (First 100 Verified Sellers - B2C): Target private plot owners in CDA/RDA sectors tired of 2% broker fees; charge PKR 1,500–3,000 per listing for 'Verified Badge'.</a:t>
            </a:r>
          </a:p>
          <a:p>
            <a:pPr>
              <a:spcAft>
                <a:spcPts val="600"/>
              </a:spcAft>
              <a:defRPr sz="1300">
                <a:solidFill>
                  <a:srgbClr val="0F172A"/>
                </a:solidFill>
              </a:defRPr>
            </a:pPr>
            <a:r>
              <a:t>•  Step 2 (First 1,000 Active Buyers): Offer 100% Free AI Advisor &amp; 3D Risk Reports in Overseas Pakistani communities (UAE, UK, KSA diaspora groups).</a:t>
            </a:r>
          </a:p>
          <a:p>
            <a:pPr>
              <a:spcAft>
                <a:spcPts val="600"/>
              </a:spcAft>
              <a:defRPr sz="1300">
                <a:solidFill>
                  <a:srgbClr val="0F172A"/>
                </a:solidFill>
              </a:defRPr>
            </a:pPr>
            <a:r>
              <a:t>•  Step 3 (B2B API Licensing): License risk-scoring &amp; document-verification APIs to housing developers, banks, and property portals.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ounded Rectangle 1"/>
          <p:cNvSpPr/>
          <p:nvPr/>
        </p:nvSpPr>
        <p:spPr>
          <a:xfrm>
            <a:off x="548640" y="365760"/>
            <a:ext cx="2377440" cy="347472"/>
          </a:xfrm>
          <a:prstGeom prst="round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08 | FINANCIALS &amp; THE ASK</a:t>
            </a:r>
          </a:p>
        </p:txBody>
      </p:sp>
      <p:sp>
        <p:nvSpPr>
          <p:cNvPr id="3" name="TextBox 2"/>
          <p:cNvSpPr txBox="1"/>
          <p:nvPr/>
        </p:nvSpPr>
        <p:spPr>
          <a:xfrm>
            <a:off x="548640" y="749808"/>
            <a:ext cx="11064240" cy="822960"/>
          </a:xfrm>
          <a:prstGeom prst="rect">
            <a:avLst/>
          </a:prstGeom>
          <a:noFill/>
        </p:spPr>
        <p:txBody>
          <a:bodyPr wrap="square">
            <a:spAutoFit/>
          </a:bodyPr>
          <a:lstStyle/>
          <a:p>
            <a:pPr>
              <a:defRPr sz="2800" b="1">
                <a:solidFill>
                  <a:srgbClr val="0F172A"/>
                </a:solidFill>
              </a:defRPr>
            </a:pPr>
            <a:r>
              <a:t>3-Year Projections, Unit Economics &amp; Capital Milestones</a:t>
            </a:r>
          </a:p>
          <a:p>
            <a:pPr>
              <a:defRPr sz="1400">
                <a:solidFill>
                  <a:srgbClr val="475569"/>
                </a:solidFill>
              </a:defRPr>
            </a:pPr>
            <a:r>
              <a:t>High ~85% gross margin driven by zero-cost deterministic spatial math and low-cost Gemini Flash tokens.</a:t>
            </a:r>
          </a:p>
        </p:txBody>
      </p:sp>
      <p:graphicFrame>
        <p:nvGraphicFramePr>
          <p:cNvPr id="4" name="Table 3"/>
          <p:cNvGraphicFramePr>
            <a:graphicFrameLocks noGrp="1"/>
          </p:cNvGraphicFramePr>
          <p:nvPr/>
        </p:nvGraphicFramePr>
        <p:xfrm>
          <a:off x="548640" y="1691640"/>
          <a:ext cx="11091672" cy="2103120"/>
        </p:xfrm>
        <a:graphic>
          <a:graphicData uri="http://schemas.openxmlformats.org/drawingml/2006/table">
            <a:tbl>
              <a:tblPr firstRow="1" bandRow="1">
                <a:tableStyleId>{5C22544A-7EE6-4342-B048-85BDC9FD1C3A}</a:tableStyleId>
              </a:tblPr>
              <a:tblGrid>
                <a:gridCol w="2772918"/>
                <a:gridCol w="2772918"/>
                <a:gridCol w="2772918"/>
                <a:gridCol w="2772918"/>
              </a:tblGrid>
              <a:tr h="525780">
                <a:tc>
                  <a:txBody>
                    <a:bodyPr/>
                    <a:lstStyle/>
                    <a:p>
                      <a:pPr>
                        <a:defRPr sz="1300" b="1">
                          <a:solidFill>
                            <a:srgbClr val="FFFFFF"/>
                          </a:solidFill>
                        </a:defRPr>
                      </a:pPr>
                      <a:r>
                        <a:t>Financial Metric</a:t>
                      </a:r>
                    </a:p>
                  </a:txBody>
                  <a:tcPr>
                    <a:solidFill>
                      <a:srgbClr val="0F172A"/>
                    </a:solidFill>
                  </a:tcPr>
                </a:tc>
                <a:tc>
                  <a:txBody>
                    <a:bodyPr/>
                    <a:lstStyle/>
                    <a:p>
                      <a:pPr>
                        <a:defRPr sz="1300" b="1">
                          <a:solidFill>
                            <a:srgbClr val="FFFFFF"/>
                          </a:solidFill>
                        </a:defRPr>
                      </a:pPr>
                      <a:r>
                        <a:t>Year 1 (Twin Cities MVP)</a:t>
                      </a:r>
                    </a:p>
                  </a:txBody>
                  <a:tcPr>
                    <a:solidFill>
                      <a:srgbClr val="0F172A"/>
                    </a:solidFill>
                  </a:tcPr>
                </a:tc>
                <a:tc>
                  <a:txBody>
                    <a:bodyPr/>
                    <a:lstStyle/>
                    <a:p>
                      <a:pPr>
                        <a:defRPr sz="1300" b="1">
                          <a:solidFill>
                            <a:srgbClr val="FFFFFF"/>
                          </a:solidFill>
                        </a:defRPr>
                      </a:pPr>
                      <a:r>
                        <a:t>Year 2 (Lahore/Karachi)</a:t>
                      </a:r>
                    </a:p>
                  </a:txBody>
                  <a:tcPr>
                    <a:solidFill>
                      <a:srgbClr val="0F172A"/>
                    </a:solidFill>
                  </a:tcPr>
                </a:tc>
                <a:tc>
                  <a:txBody>
                    <a:bodyPr/>
                    <a:lstStyle/>
                    <a:p>
                      <a:pPr>
                        <a:defRPr sz="1300" b="1">
                          <a:solidFill>
                            <a:srgbClr val="FFFFFF"/>
                          </a:solidFill>
                        </a:defRPr>
                      </a:pPr>
                      <a:r>
                        <a:t>Year 3 (National + B2B)</a:t>
                      </a:r>
                    </a:p>
                  </a:txBody>
                  <a:tcPr>
                    <a:solidFill>
                      <a:srgbClr val="0F172A"/>
                    </a:solidFill>
                  </a:tcPr>
                </a:tc>
              </a:tr>
              <a:tr h="525780">
                <a:tc>
                  <a:txBody>
                    <a:bodyPr/>
                    <a:lstStyle/>
                    <a:p>
                      <a:pPr>
                        <a:defRPr sz="1200" b="1">
                          <a:solidFill>
                            <a:srgbClr val="0F172A"/>
                          </a:solidFill>
                        </a:defRPr>
                      </a:pPr>
                      <a:r>
                        <a:t>Verified B2C Listings (@ PKR 2,500 avg.)</a:t>
                      </a:r>
                    </a:p>
                  </a:txBody>
                  <a:tcPr>
                    <a:solidFill>
                      <a:srgbClr val="FFFFFF"/>
                    </a:solidFill>
                  </a:tcPr>
                </a:tc>
                <a:tc>
                  <a:txBody>
                    <a:bodyPr/>
                    <a:lstStyle/>
                    <a:p>
                      <a:pPr>
                        <a:defRPr sz="1200" b="0">
                          <a:solidFill>
                            <a:srgbClr val="0F172A"/>
                          </a:solidFill>
                        </a:defRPr>
                      </a:pPr>
                      <a:r>
                        <a:t>1,200 listings (PKR 3.0M)</a:t>
                      </a:r>
                    </a:p>
                  </a:txBody>
                  <a:tcPr>
                    <a:solidFill>
                      <a:srgbClr val="FFFFFF"/>
                    </a:solidFill>
                  </a:tcPr>
                </a:tc>
                <a:tc>
                  <a:txBody>
                    <a:bodyPr/>
                    <a:lstStyle/>
                    <a:p>
                      <a:pPr>
                        <a:defRPr sz="1200" b="0">
                          <a:solidFill>
                            <a:srgbClr val="0F172A"/>
                          </a:solidFill>
                        </a:defRPr>
                      </a:pPr>
                      <a:r>
                        <a:t>4,500 listings (PKR 11.2M)</a:t>
                      </a:r>
                    </a:p>
                  </a:txBody>
                  <a:tcPr>
                    <a:solidFill>
                      <a:srgbClr val="FFFFFF"/>
                    </a:solidFill>
                  </a:tcPr>
                </a:tc>
                <a:tc>
                  <a:txBody>
                    <a:bodyPr/>
                    <a:lstStyle/>
                    <a:p>
                      <a:pPr>
                        <a:defRPr sz="1200" b="0">
                          <a:solidFill>
                            <a:srgbClr val="0F172A"/>
                          </a:solidFill>
                        </a:defRPr>
                      </a:pPr>
                      <a:r>
                        <a:t>10,000 listings (PKR 25.0M)</a:t>
                      </a:r>
                    </a:p>
                  </a:txBody>
                  <a:tcPr>
                    <a:solidFill>
                      <a:srgbClr val="FFFFFF"/>
                    </a:solidFill>
                  </a:tcPr>
                </a:tc>
              </a:tr>
              <a:tr h="525780">
                <a:tc>
                  <a:txBody>
                    <a:bodyPr/>
                    <a:lstStyle/>
                    <a:p>
                      <a:pPr>
                        <a:defRPr sz="1200" b="1">
                          <a:solidFill>
                            <a:srgbClr val="0F172A"/>
                          </a:solidFill>
                        </a:defRPr>
                      </a:pPr>
                      <a:r>
                        <a:t>B2B API Partners (Developers / Portals)</a:t>
                      </a:r>
                    </a:p>
                  </a:txBody>
                  <a:tcPr>
                    <a:solidFill>
                      <a:srgbClr val="FFFFFF"/>
                    </a:solidFill>
                  </a:tcPr>
                </a:tc>
                <a:tc>
                  <a:txBody>
                    <a:bodyPr/>
                    <a:lstStyle/>
                    <a:p>
                      <a:pPr>
                        <a:defRPr sz="1200" b="0">
                          <a:solidFill>
                            <a:srgbClr val="0F172A"/>
                          </a:solidFill>
                        </a:defRPr>
                      </a:pPr>
                      <a:r>
                        <a:t>3 partners (PKR 1.5M)</a:t>
                      </a:r>
                    </a:p>
                  </a:txBody>
                  <a:tcPr>
                    <a:solidFill>
                      <a:srgbClr val="FFFFFF"/>
                    </a:solidFill>
                  </a:tcPr>
                </a:tc>
                <a:tc>
                  <a:txBody>
                    <a:bodyPr/>
                    <a:lstStyle/>
                    <a:p>
                      <a:pPr>
                        <a:defRPr sz="1200" b="0">
                          <a:solidFill>
                            <a:srgbClr val="0F172A"/>
                          </a:solidFill>
                        </a:defRPr>
                      </a:pPr>
                      <a:r>
                        <a:t>15 partners (PKR 7.5M)</a:t>
                      </a:r>
                    </a:p>
                  </a:txBody>
                  <a:tcPr>
                    <a:solidFill>
                      <a:srgbClr val="FFFFFF"/>
                    </a:solidFill>
                  </a:tcPr>
                </a:tc>
                <a:tc>
                  <a:txBody>
                    <a:bodyPr/>
                    <a:lstStyle/>
                    <a:p>
                      <a:pPr>
                        <a:defRPr sz="1200" b="0">
                          <a:solidFill>
                            <a:srgbClr val="0F172A"/>
                          </a:solidFill>
                        </a:defRPr>
                      </a:pPr>
                      <a:r>
                        <a:t>40 partners (PKR 20.0M)</a:t>
                      </a:r>
                    </a:p>
                  </a:txBody>
                  <a:tcPr>
                    <a:solidFill>
                      <a:srgbClr val="FFFFFF"/>
                    </a:solidFill>
                  </a:tcPr>
                </a:tc>
              </a:tr>
              <a:tr h="525780">
                <a:tc>
                  <a:txBody>
                    <a:bodyPr/>
                    <a:lstStyle/>
                    <a:p>
                      <a:pPr>
                        <a:defRPr sz="1200" b="1">
                          <a:solidFill>
                            <a:srgbClr val="047857"/>
                          </a:solidFill>
                        </a:defRPr>
                      </a:pPr>
                      <a:r>
                        <a:t>Total Projected Annual Revenue</a:t>
                      </a:r>
                    </a:p>
                  </a:txBody>
                  <a:tcPr>
                    <a:solidFill>
                      <a:srgbClr val="ECFDF5"/>
                    </a:solidFill>
                  </a:tcPr>
                </a:tc>
                <a:tc>
                  <a:txBody>
                    <a:bodyPr/>
                    <a:lstStyle/>
                    <a:p>
                      <a:pPr>
                        <a:defRPr sz="1200" b="1">
                          <a:solidFill>
                            <a:srgbClr val="047857"/>
                          </a:solidFill>
                        </a:defRPr>
                      </a:pPr>
                      <a:r>
                        <a:t>PKR 4.5 Million</a:t>
                      </a:r>
                    </a:p>
                  </a:txBody>
                  <a:tcPr>
                    <a:solidFill>
                      <a:srgbClr val="ECFDF5"/>
                    </a:solidFill>
                  </a:tcPr>
                </a:tc>
                <a:tc>
                  <a:txBody>
                    <a:bodyPr/>
                    <a:lstStyle/>
                    <a:p>
                      <a:pPr>
                        <a:defRPr sz="1200" b="1">
                          <a:solidFill>
                            <a:srgbClr val="047857"/>
                          </a:solidFill>
                        </a:defRPr>
                      </a:pPr>
                      <a:r>
                        <a:t>PKR 18.7 Million</a:t>
                      </a:r>
                    </a:p>
                  </a:txBody>
                  <a:tcPr>
                    <a:solidFill>
                      <a:srgbClr val="ECFDF5"/>
                    </a:solidFill>
                  </a:tcPr>
                </a:tc>
                <a:tc>
                  <a:txBody>
                    <a:bodyPr/>
                    <a:lstStyle/>
                    <a:p>
                      <a:pPr>
                        <a:defRPr sz="1200" b="1">
                          <a:solidFill>
                            <a:srgbClr val="047857"/>
                          </a:solidFill>
                        </a:defRPr>
                      </a:pPr>
                      <a:r>
                        <a:t>PKR 45.0 Million</a:t>
                      </a:r>
                    </a:p>
                  </a:txBody>
                  <a:tcPr>
                    <a:solidFill>
                      <a:srgbClr val="ECFDF5"/>
                    </a:solidFill>
                  </a:tcPr>
                </a:tc>
              </a:tr>
            </a:tbl>
          </a:graphicData>
        </a:graphic>
      </p:graphicFrame>
      <p:sp>
        <p:nvSpPr>
          <p:cNvPr id="5" name="Rounded Rectangle 4"/>
          <p:cNvSpPr/>
          <p:nvPr/>
        </p:nvSpPr>
        <p:spPr>
          <a:xfrm>
            <a:off x="548640" y="4023360"/>
            <a:ext cx="11091672" cy="23317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160520"/>
            <a:ext cx="10725912" cy="2057400"/>
          </a:xfrm>
          <a:prstGeom prst="rect">
            <a:avLst/>
          </a:prstGeom>
          <a:noFill/>
        </p:spPr>
        <p:txBody>
          <a:bodyPr wrap="square">
            <a:spAutoFit/>
          </a:bodyPr>
          <a:lstStyle/>
          <a:p>
            <a:pPr>
              <a:spcAft>
                <a:spcPts val="800"/>
              </a:spcAft>
              <a:defRPr sz="1700" b="1">
                <a:solidFill>
                  <a:srgbClr val="047857"/>
                </a:solidFill>
              </a:defRPr>
            </a:pPr>
            <a:r>
              <a:t>The Ask: Raising PKR 5 Million Seed / Grant (18-Month Runway)</a:t>
            </a:r>
          </a:p>
          <a:p>
            <a:pPr>
              <a:spcAft>
                <a:spcPts val="600"/>
              </a:spcAft>
              <a:defRPr sz="1300">
                <a:solidFill>
                  <a:srgbClr val="0F172A"/>
                </a:solidFill>
              </a:defRPr>
            </a:pPr>
            <a:r>
              <a:t>•  Milestone 1 (Months 1–6): Integrate NADRA VeriSys Biometric API (live selfie-to-CNIC facial matching to eliminate seller impersonation).</a:t>
            </a:r>
          </a:p>
          <a:p>
            <a:pPr>
              <a:spcAft>
                <a:spcPts val="600"/>
              </a:spcAft>
              <a:defRPr sz="1300">
                <a:solidFill>
                  <a:srgbClr val="0F172A"/>
                </a:solidFill>
              </a:defRPr>
            </a:pPr>
            <a:r>
              <a:t>•  Milestone 2 (Months 6–12): Scale to 1,000+ verified Twin Cities listings and launch 360° Smart Rental Ecosystem to eliminate fake rental ads.</a:t>
            </a:r>
          </a:p>
          <a:p>
            <a:pPr>
              <a:spcAft>
                <a:spcPts val="600"/>
              </a:spcAft>
              <a:defRPr sz="1300">
                <a:solidFill>
                  <a:srgbClr val="0F172A"/>
                </a:solidFill>
              </a:defRPr>
            </a:pPr>
            <a:r>
              <a:t>•  Milestone 3 (Months 12–18): Train Predictive ML Land Valuation models (3–5 year ROI forecasting) and hit PKR 1.5M+ Monthly Recurring Revenue.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ounded Rectangle 1"/>
          <p:cNvSpPr/>
          <p:nvPr/>
        </p:nvSpPr>
        <p:spPr>
          <a:xfrm>
            <a:off x="548640" y="365760"/>
            <a:ext cx="2377440" cy="347472"/>
          </a:xfrm>
          <a:prstGeom prst="round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09 | TEAM NAQSHAI</a:t>
            </a:r>
          </a:p>
        </p:txBody>
      </p:sp>
      <p:sp>
        <p:nvSpPr>
          <p:cNvPr id="3" name="TextBox 2"/>
          <p:cNvSpPr txBox="1"/>
          <p:nvPr/>
        </p:nvSpPr>
        <p:spPr>
          <a:xfrm>
            <a:off x="548640" y="749808"/>
            <a:ext cx="11064240" cy="822960"/>
          </a:xfrm>
          <a:prstGeom prst="rect">
            <a:avLst/>
          </a:prstGeom>
          <a:noFill/>
        </p:spPr>
        <p:txBody>
          <a:bodyPr wrap="square">
            <a:spAutoFit/>
          </a:bodyPr>
          <a:lstStyle/>
          <a:p>
            <a:pPr>
              <a:defRPr sz="2800" b="1">
                <a:solidFill>
                  <a:srgbClr val="0F172A"/>
                </a:solidFill>
              </a:defRPr>
            </a:pPr>
            <a:r>
              <a:t>Built by Engineers Solving Pakistan's Trust Deficit</a:t>
            </a:r>
          </a:p>
          <a:p>
            <a:pPr>
              <a:defRPr sz="1400">
                <a:solidFill>
                  <a:srgbClr val="475569"/>
                </a:solidFill>
              </a:defRPr>
            </a:pPr>
            <a:r>
              <a:t>Zameen Ap Ki, Bharosa Hamara  |  https://naqshaii.vercel.app/</a:t>
            </a:r>
          </a:p>
        </p:txBody>
      </p:sp>
      <p:sp>
        <p:nvSpPr>
          <p:cNvPr id="4" name="Rectangle 3"/>
          <p:cNvSpPr/>
          <p:nvPr/>
        </p:nvSpPr>
        <p:spPr>
          <a:xfrm>
            <a:off x="731520" y="1828800"/>
            <a:ext cx="3291840" cy="4114800"/>
          </a:xfrm>
          <a:prstGeom prst="rect">
            <a:avLst/>
          </a:prstGeom>
          <a:solidFill>
            <a:srgbClr val="ECFDF5"/>
          </a:solidFill>
          <a:ln w="1905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47857"/>
                </a:solidFill>
              </a:defRPr>
            </a:pPr>
            <a:r>
              <a:t>[ PASTE IMAGE HERE ]</a:t>
            </a:r>
            <a:br/>
            <a:r>
              <a:t>Paste Photo:</a:t>
            </a:r>
            <a:br/>
            <a:r>
              <a:t>Ahsan Hayat</a:t>
            </a:r>
            <a:br/>
            <a:r>
              <a:t>(From Old Slide 18)</a:t>
            </a:r>
          </a:p>
        </p:txBody>
      </p:sp>
      <p:sp>
        <p:nvSpPr>
          <p:cNvPr id="5" name="Rectangle 4"/>
          <p:cNvSpPr/>
          <p:nvPr/>
        </p:nvSpPr>
        <p:spPr>
          <a:xfrm>
            <a:off x="4443984" y="1828800"/>
            <a:ext cx="3291840" cy="4114800"/>
          </a:xfrm>
          <a:prstGeom prst="rect">
            <a:avLst/>
          </a:prstGeom>
          <a:solidFill>
            <a:srgbClr val="ECFDF5"/>
          </a:solidFill>
          <a:ln w="1905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47857"/>
                </a:solidFill>
              </a:defRPr>
            </a:pPr>
            <a:r>
              <a:t>[ PASTE IMAGE HERE ]</a:t>
            </a:r>
            <a:br/>
            <a:r>
              <a:t>Paste Photo:</a:t>
            </a:r>
            <a:br/>
            <a:r>
              <a:t>Hassan Farooq</a:t>
            </a:r>
            <a:br/>
            <a:r>
              <a:t>(From Old Slide 18)</a:t>
            </a:r>
          </a:p>
        </p:txBody>
      </p:sp>
      <p:sp>
        <p:nvSpPr>
          <p:cNvPr id="6" name="Rectangle 5"/>
          <p:cNvSpPr/>
          <p:nvPr/>
        </p:nvSpPr>
        <p:spPr>
          <a:xfrm>
            <a:off x="8156448" y="1828800"/>
            <a:ext cx="3291840" cy="4114800"/>
          </a:xfrm>
          <a:prstGeom prst="rect">
            <a:avLst/>
          </a:prstGeom>
          <a:solidFill>
            <a:srgbClr val="ECFDF5"/>
          </a:solidFill>
          <a:ln w="1905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47857"/>
                </a:solidFill>
              </a:defRPr>
            </a:pPr>
            <a:r>
              <a:t>[ PASTE IMAGE HERE ]</a:t>
            </a:r>
            <a:br/>
            <a:r>
              <a:t>Paste Photo:</a:t>
            </a:r>
            <a:br/>
            <a:r>
              <a:t>Aliza Fatima</a:t>
            </a:r>
            <a:br/>
            <a:r>
              <a:t>(From Old Slide 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